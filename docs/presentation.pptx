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9CBEF"/>
                </a:solidFill>
                <a:latin typeface="맑은 고딕"/>
              </a:rPr>
              <a:t>AI4I 2020 Predictive Maintenance Dataset 기반 EDA + 예측 모델링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40280"/>
            <a:ext cx="1097280" cy="635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FA4C7"/>
                </a:solidFill>
                <a:latin typeface="맑은 고딕"/>
              </a:rPr>
              <a:t>python_data_analyze  |  발표자료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2200" b="0">
                <a:solidFill>
                  <a:srgbClr val="4A5563"/>
                </a:solidFill>
                <a:latin typeface="맑은 고딕"/>
              </a:rPr>
              <a:t>01. 프로젝트 개요 및 데이터셋 소개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2200" b="0">
                <a:solidFill>
                  <a:srgbClr val="4A5563"/>
                </a:solidFill>
                <a:latin typeface="맑은 고딕"/>
              </a:rPr>
              <a:t>02. EDA — 탐색적 데이터 분석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2200" b="0">
                <a:solidFill>
                  <a:srgbClr val="4A5563"/>
                </a:solidFill>
                <a:latin typeface="맑은 고딕"/>
              </a:rPr>
              <a:t>03. 정상/불량 판별 — 위험구간 피처 엔지니어링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2200" b="0">
                <a:solidFill>
                  <a:srgbClr val="4A5563"/>
                </a:solidFill>
                <a:latin typeface="맑은 고딕"/>
              </a:rPr>
              <a:t>04. 모델 비교 (Random Forest / XGBoost / LightGBM)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2200" b="0">
                <a:solidFill>
                  <a:srgbClr val="4A5563"/>
                </a:solidFill>
                <a:latin typeface="맑은 고딕"/>
              </a:rPr>
              <a:t>05. 결론 및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목표: CNC 설비의 정상/불량(Machine failure) 여부를 데이터로 예측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데이터셋: UCI AI4I 2020 Predictive Maintenance Dataset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700" b="0">
                <a:solidFill>
                  <a:srgbClr val="4A5563"/>
                </a:solidFill>
                <a:latin typeface="맑은 고딕"/>
              </a:rPr>
              <a:t>10,000행 x 14열, 실제 제조 설비를 모사한 시뮬레이션 데이터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700" b="0">
                <a:solidFill>
                  <a:srgbClr val="4A5563"/>
                </a:solidFill>
                <a:latin typeface="맑은 고딕"/>
              </a:rPr>
              <a:t>센서값(온도/회전속도/토크/공구마모) + 고장 여부 + 세부 고장 모드 5종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진행 순서: EDA → 위험구간 피처 엔지니어링 → 모델 비교 →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데이터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0408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UDI, Product ID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식별자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제품 품질 등급 (L 저가 / M 중가 / H 고가)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Air temperature [K]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대기 온도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Process temperature [K]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공정 온도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Rotational speed [rpm]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회전 속도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Torque [Nm]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토크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Tool wear [min]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공구 사용 시간 (마모도)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Machine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고장 여부 (타겟, 0/1)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TWF/HDF/PWF/OSF/RNF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세부 고장 모드: 공구마모/방열/전력/과부하/랜덤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8FA4C7"/>
                </a:solidFill>
                <a:latin typeface="맑은 고딕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EDA — 탐색적 데이터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9CBEF"/>
                </a:solidFill>
                <a:latin typeface="맑은 고딕"/>
              </a:rPr>
              <a:t>Exploratory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1097280" cy="635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데이터 품질 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2000" b="0">
                <a:solidFill>
                  <a:srgbClr val="4A5563"/>
                </a:solidFill>
                <a:latin typeface="맑은 고딕"/>
              </a:rPr>
              <a:t>결측치 0건, 완전 중복행 0건 (src/check_data_quality.py로 코드 검증)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2000" b="0">
                <a:solidFill>
                  <a:srgbClr val="4A5563"/>
                </a:solidFill>
                <a:latin typeface="맑은 고딕"/>
              </a:rPr>
              <a:t>식별자(UDI/Product ID) 제외 기준으로도 중복행 0건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2000" b="0">
                <a:solidFill>
                  <a:srgbClr val="4A5563"/>
                </a:solidFill>
                <a:latin typeface="맑은 고딕"/>
              </a:rPr>
              <a:t>→ 전처리 부담이 적은 깨끗한 데이터셋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수치형 변수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600200"/>
            <a:ext cx="786384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5563"/>
                </a:solidFill>
                <a:latin typeface="맑은 고딕"/>
              </a:rPr>
              <a:t>Air/Process temperature·Torque는 정규분포에 근접, Rotational speed는 오른쪽 꼬리가 긴 분포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타겟(Machine failure) 분포 — 클래스 불균형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1600" b="0">
                <a:solidFill>
                  <a:srgbClr val="4A5563"/>
                </a:solidFill>
                <a:latin typeface="맑은 고딕"/>
              </a:rPr>
              <a:t>정상 9,661건 (96.6%)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600" b="0">
                <a:solidFill>
                  <a:srgbClr val="4A5563"/>
                </a:solidFill>
                <a:latin typeface="맑은 고딕"/>
              </a:rPr>
              <a:t>불량 339건 (3.39%)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600" b="1">
                <a:solidFill>
                  <a:srgbClr val="4A5563"/>
                </a:solidFill>
                <a:latin typeface="맑은 고딕"/>
              </a:rPr>
              <a:t>[핵심] 극심한 클래스 불균형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400" b="0">
                <a:solidFill>
                  <a:srgbClr val="4A5563"/>
                </a:solidFill>
                <a:latin typeface="맑은 고딕"/>
              </a:rPr>
              <a:t>→ accuracy 대신 recall/precision/F1/AUC 사용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400" b="0">
                <a:solidFill>
                  <a:srgbClr val="4A5563"/>
                </a:solidFill>
                <a:latin typeface="맑은 고딕"/>
              </a:rPr>
              <a:t>→ class_weight, 리샘플링(SMOTE) 등 보정 필요</a:t>
            </a:r>
          </a:p>
        </p:txBody>
      </p:sp>
      <p:pic>
        <p:nvPicPr>
          <p:cNvPr id="5" name="Picture 4" descr="eda_failur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4937760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세부 고장 모드 (TWF / HDF / PWF / OSF / RNF)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1800" b="0">
                <a:solidFill>
                  <a:srgbClr val="4A5563"/>
                </a:solidFill>
                <a:latin typeface="맑은 고딕"/>
              </a:rPr>
              <a:t>발생 빈도: HDF(방열, 115건) &gt; OSF(과부하, 98건) &gt; PWF(전력, 95건)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600" b="0">
                <a:solidFill>
                  <a:srgbClr val="4A5563"/>
                </a:solidFill>
                <a:latin typeface="맑은 고딕"/>
              </a:rPr>
              <a:t>        &gt; TWF(공구마모, 46건) &gt; RNF(랜덤, 19건)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800" b="0">
                <a:solidFill>
                  <a:srgbClr val="4A5563"/>
                </a:solidFill>
                <a:latin typeface="맑은 고딕"/>
              </a:rPr>
              <a:t>대부분 세부 모드 1개만 발생, 2~3개 동시 발생 케이스도 존재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800" b="1">
                <a:solidFill>
                  <a:srgbClr val="4A5563"/>
                </a:solidFill>
                <a:latin typeface="맑은 고딕"/>
              </a:rPr>
              <a:t>[데이터 불일치] Machine failure=1인데 세부 모드 없음: 9건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800" b="1">
                <a:solidFill>
                  <a:srgbClr val="4A5563"/>
                </a:solidFill>
                <a:latin typeface="맑은 고딕"/>
              </a:rPr>
              <a:t>[데이터 불일치] Machine failure=0인데 세부 모드 있음: 18건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800" b="0">
                <a:solidFill>
                  <a:srgbClr val="4A5563"/>
                </a:solidFill>
                <a:latin typeface="맑은 고딕"/>
              </a:rPr>
              <a:t>→ 라벨링 규칙(특히 RNF)이 100% 결정론적이지 않음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상관관계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600200"/>
            <a:ext cx="4572000" cy="3918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56217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5563"/>
                </a:solidFill>
                <a:latin typeface="맑은 고딕"/>
              </a:rPr>
              <a:t>Air↔Process temp +0.88, Rotational speed↔Torque -0.88 (강한 다중공선성) / Machine failure는 Torque(0.19)와 가장 상관 높음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고장 여부에 따른 변수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boxplot_by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600200"/>
            <a:ext cx="786384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5563"/>
                </a:solidFill>
                <a:latin typeface="맑은 고딕"/>
              </a:rPr>
              <a:t>고장 발생 시 Torque·Tool wear는 대체로 높고 Rotational speed는 낮은 경향 (토크-회전속도 역상관과 일치)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EDA 결론 및 시사점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결측치/중복 없음 → 전처리 부담 적음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클래스 불균형 심각 → recall 중심 평가 + 리샘플링 전략 필요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Air/Process temperature, Rotational speed/Torque 다중공선성 강함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고장 예측 핵심 변수: Torque &gt; Tool wear &gt; Air temperature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세부 고장 모드-최종 라벨 간 일부 불일치 → 라벨 정제 필요 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8FA4C7"/>
                </a:solidFill>
                <a:latin typeface="맑은 고딕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정상/불량 판별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9CBEF"/>
                </a:solidFill>
                <a:latin typeface="맑은 고딕"/>
              </a:rPr>
              <a:t>"위험구간" 피처로 성능 끌어올리기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1097280" cy="635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왜 정상/불량(Machine failure) 예측인가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1">
                <a:solidFill>
                  <a:srgbClr val="4A5563"/>
                </a:solidFill>
                <a:latin typeface="맑은 고딕"/>
              </a:rPr>
              <a:t>[참고] Type(품질 등급) 예측 시도 → AUC 0.48~0.51 (사실상 랜덤 수준)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700" b="0">
                <a:solidFill>
                  <a:srgbClr val="4A5563"/>
                </a:solidFill>
                <a:latin typeface="맑은 고딕"/>
              </a:rPr>
              <a:t>→ Type은 측정값과 직접적 인과관계가 없는 식별자성 라벨로 판단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Machine failure는 EDA에서 Torque/Tool wear와 상관관계 확인된 타겟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→ 설비진단이라는 실제 문제에 더 맞는 목표로 재설정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정상 9,661건 vs 불량 339건(3.4%) — 동일한 클래스 불균형 존재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피처 엔지니어링 — 위험구간(zone) 플래그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근거: UCI 공식 데이터셋 문서에 정의된 고장 발생 조건 (임의 추정 아님)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비유: 자동차 계기판 경고등 — 특정 조건에 들어가면 경고등 점등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1">
                <a:solidFill>
                  <a:srgbClr val="4A5563"/>
                </a:solidFill>
                <a:latin typeface="맑은 고딕"/>
              </a:rPr>
              <a:t>[예시] 온도차 작고 회전 느리면 → 방열 고장 위험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1">
                <a:solidFill>
                  <a:srgbClr val="4A5563"/>
                </a:solidFill>
                <a:latin typeface="맑은 고딕"/>
              </a:rPr>
              <a:t>[예시] 모터 힘이 너무 약하거나 세면 → 전력 고장 위험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1">
                <a:solidFill>
                  <a:srgbClr val="4A5563"/>
                </a:solidFill>
                <a:latin typeface="맑은 고딕"/>
              </a:rPr>
              <a:t>[예시] 날은 닳았는데 힘까지 세면 → 과부하 고장 위험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위험구간 피처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85216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피처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점등 조건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hdf_zone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온도차 &lt; 8.6K AND 회전속도 &lt; 1380rpm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방열 고장 위험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pwf_zone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동력 &lt; 3500W OR 동력 &gt; 9000W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전력 고장 위험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osf_zone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토크×공구마모 &gt; Type별 임계값(L11000/M12000/H13000)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과부하 위험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high_wear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공구마모 &gt; 200분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공구마모 고장 임박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risk_zone_count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위 4개 합산 (0~4)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5563"/>
                          </a:solidFill>
                          <a:latin typeface="맑은 고딕"/>
                        </a:rPr>
                        <a:t>동시 점등 개수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위험구간 효과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ing2_risk_zone_failur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047" y="1600200"/>
            <a:ext cx="5943600" cy="39288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661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5563"/>
                </a:solidFill>
                <a:latin typeface="맑은 고딕"/>
              </a:rPr>
              <a:t>위험구간 0개 → 불량률 0.11%  /  1개 → 27.2%  /  2개 이상 → 100%  (경고등 2개 이상이면 사실상 고장 확정)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8FA4C7"/>
                </a:solidFill>
                <a:latin typeface="맑은 고딕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모델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9CBEF"/>
                </a:solidFill>
                <a:latin typeface="맑은 고딕"/>
              </a:rPr>
              <a:t>Random Forest / XGBoost / LightGBM  x  Baseline / Enhanced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1097280" cy="635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실험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Baseline: 원본 변수만 (Type 원-핫 + 온도/회전속도/토크/공구마모)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Enhanced: Baseline + 파생변수(temp_diff/power/tool_stress) + 위험구간 5종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검증 모델 3종: Random Forest, XGBoost, LightGBM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→ 위험구간 효과가 특정 모델만의 우연이 아닌지 교차 검증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900" b="0">
                <a:solidFill>
                  <a:srgbClr val="4A5563"/>
                </a:solidFill>
                <a:latin typeface="맑은 고딕"/>
              </a:rPr>
              <a:t>클래스 불균형 보정: class_weight="balanced" (RF/LightGBM), scale_pos_weight (XGBoost)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모델 3종 x Baseline/Enhanced 결과 (불량 클래스 기준)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698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1371600"/>
                <a:gridCol w="1371600"/>
                <a:gridCol w="1371600"/>
                <a:gridCol w="15544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피처셋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정확도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정밀도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재현율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F1-score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AUC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0.982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0.750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0.706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0.727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0.970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0.761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0.756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LightGBM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0.987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0.839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0.765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0.800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0.971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Enhanced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0.838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78D6"/>
                          </a:solidFill>
                          <a:latin typeface="맑은 고딕"/>
                        </a:rPr>
                        <a:t>0.912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XGBoost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Enhanced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0.992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0.934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0.838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0.884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0.973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LightGBM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Enhanced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0.838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0.898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5563"/>
                          </a:solidFill>
                          <a:latin typeface="맑은 고딕"/>
                        </a:rPr>
                        <a:t>0.974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지표 비교 그래프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ing2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600200"/>
            <a:ext cx="8229600" cy="43559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결과 해석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1700" b="0">
                <a:solidFill>
                  <a:srgbClr val="4A5563"/>
                </a:solidFill>
                <a:latin typeface="맑은 고딕"/>
              </a:rPr>
              <a:t>위험구간(zone) 피처 추가 효과는 3개 모델 전부에서 재현됨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500" b="0">
                <a:solidFill>
                  <a:srgbClr val="4A5563"/>
                </a:solidFill>
                <a:latin typeface="맑은 고딕"/>
              </a:rPr>
              <a:t>→ 특정 모델 한정 효과가 아닌 일반적 효과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700" b="0">
                <a:solidFill>
                  <a:srgbClr val="4A5563"/>
                </a:solidFill>
                <a:latin typeface="맑은 고딕"/>
              </a:rPr>
              <a:t>Baseline만 보면 LightGBM이 가장 우수 (F1 0.800)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500" b="0">
                <a:solidFill>
                  <a:srgbClr val="4A5563"/>
                </a:solidFill>
                <a:latin typeface="맑은 고딕"/>
              </a:rPr>
              <a:t>→ 그래디언트 부스팅 계열이 조합 규칙을 어느 정도 스스로 탐지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700" b="0">
                <a:solidFill>
                  <a:srgbClr val="4A5563"/>
                </a:solidFill>
                <a:latin typeface="맑은 고딕"/>
              </a:rPr>
              <a:t>Enhanced에서는 Random Forest가 1위로 역전 (F1 0.912, 개선폭 +0.185 최대)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500" b="0">
                <a:solidFill>
                  <a:srgbClr val="4A5563"/>
                </a:solidFill>
                <a:latin typeface="맑은 고딕"/>
              </a:rPr>
              <a:t>→ 조합 규칙 탐지력이 가장 약했던 모델이 위험구간 피처 효과를 가장 크게 흡수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700" b="0">
                <a:solidFill>
                  <a:srgbClr val="4A5563"/>
                </a:solidFill>
                <a:latin typeface="맑은 고딕"/>
              </a:rPr>
              <a:t>AUC는 6개 조합 전부 0.970~0.974로 거의 동일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500" b="0">
                <a:solidFill>
                  <a:srgbClr val="4A5563"/>
                </a:solidFill>
                <a:latin typeface="맑은 고딕"/>
              </a:rPr>
              <a:t>→ 위험구간 피처는 "순위 매기기"보다 "정확한 경계 판별"에 기여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8FA4C7"/>
                </a:solidFill>
                <a:latin typeface="맑은 고딕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결론 및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9CBEF"/>
                </a:solidFill>
                <a:latin typeface="맑은 고딕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1097280" cy="635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2554"/>
                </a:solidFill>
                <a:latin typeface="맑은 고딕"/>
              </a:rPr>
              <a:t>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82296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Font typeface="Arial"/>
              <a:buChar char="▪"/>
            </a:pPr>
            <a:r>
              <a:rPr sz="1800" b="1">
                <a:solidFill>
                  <a:srgbClr val="4A5563"/>
                </a:solidFill>
                <a:latin typeface="맑은 고딕"/>
              </a:rPr>
              <a:t>[1] 원본 변수 절대값보다 "위험 신호 동시 발생 개수"가 훨씬 강한 신호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600" b="0">
                <a:solidFill>
                  <a:srgbClr val="4A5563"/>
                </a:solidFill>
                <a:latin typeface="맑은 고딕"/>
              </a:rPr>
              <a:t>risk_zone_count 상관계수 0.630 &gt; 원본 변수 중 최고인 Torque 0.191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800" b="1">
                <a:solidFill>
                  <a:srgbClr val="4A5563"/>
                </a:solidFill>
                <a:latin typeface="맑은 고딕"/>
              </a:rPr>
              <a:t>[2] 근거 기반 피처 엔지니어링 — 데이터셋 공식 문서의 고장 조건을 그대로 피처화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600" b="0">
                <a:solidFill>
                  <a:srgbClr val="4A5563"/>
                </a:solidFill>
                <a:latin typeface="맑은 고딕"/>
              </a:rPr>
              <a:t>UCI AI4I 2020 데이터셋 공식 설명 페이지 기준 임계값 사용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800" b="1">
                <a:solidFill>
                  <a:srgbClr val="4A5563"/>
                </a:solidFill>
                <a:latin typeface="맑은 고딕"/>
              </a:rPr>
              <a:t>[3] 클래스 불균형 문제는 AUC만으로 판단하면 안 됨</a:t>
            </a:r>
          </a:p>
          <a:p>
            <a:pPr lvl="1">
              <a:spcAft>
                <a:spcPts val="1000"/>
              </a:spcAft>
              <a:buFont typeface="Arial"/>
              <a:buChar char="–"/>
            </a:pPr>
            <a:r>
              <a:rPr sz="1600" b="0">
                <a:solidFill>
                  <a:srgbClr val="4A5563"/>
                </a:solidFill>
                <a:latin typeface="맑은 고딕"/>
              </a:rPr>
              <a:t>F1-score 0.727 → 0.912로 크게 개선, AUC는 0.970 → 0.973로 미미</a:t>
            </a:r>
          </a:p>
          <a:p>
            <a:pPr>
              <a:spcAft>
                <a:spcPts val="1000"/>
              </a:spcAft>
              <a:buFont typeface="Arial"/>
              <a:buChar char="▪"/>
            </a:pPr>
            <a:r>
              <a:rPr sz="1800" b="1">
                <a:solidFill>
                  <a:srgbClr val="4A5563"/>
                </a:solidFill>
                <a:latin typeface="맑은 고딕"/>
              </a:rPr>
              <a:t>[4] Type(품질 등급) 예측보다 Machine failure(정상/불량) 예측이 훨씬 유의미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맑은 고딕"/>
              </a:rPr>
              <a:t>CNC 설비 정상/불량 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3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9CBEF"/>
                </a:solidFill>
                <a:latin typeface="맑은 고딕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