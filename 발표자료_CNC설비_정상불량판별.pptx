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1DE5F2-DB31-4FD2-A133-9867C399CE2E}" v="2" dt="2026-08-27T07:44:36.3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400" d="100"/>
          <a:sy n="400" d="100"/>
        </p:scale>
        <p:origin x="-16037" y="-820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민엽 허" userId="688c9c03a5294cea" providerId="LiveId" clId="{DEB337A0-EA5B-44C9-A252-7D0AA4390C6E}"/>
    <pc:docChg chg="undo custSel modSld">
      <pc:chgData name="민엽 허" userId="688c9c03a5294cea" providerId="LiveId" clId="{DEB337A0-EA5B-44C9-A252-7D0AA4390C6E}" dt="2026-08-27T07:45:50.158" v="33" actId="1076"/>
      <pc:docMkLst>
        <pc:docMk/>
      </pc:docMkLst>
      <pc:sldChg chg="modSp mod">
        <pc:chgData name="민엽 허" userId="688c9c03a5294cea" providerId="LiveId" clId="{DEB337A0-EA5B-44C9-A252-7D0AA4390C6E}" dt="2026-08-27T07:45:50.158" v="33" actId="1076"/>
        <pc:sldMkLst>
          <pc:docMk/>
          <pc:sldMk cId="0" sldId="258"/>
        </pc:sldMkLst>
        <pc:spChg chg="mod">
          <ac:chgData name="민엽 허" userId="688c9c03a5294cea" providerId="LiveId" clId="{DEB337A0-EA5B-44C9-A252-7D0AA4390C6E}" dt="2026-08-27T07:45:50.158" v="33" actId="1076"/>
          <ac:spMkLst>
            <pc:docMk/>
            <pc:sldMk cId="0" sldId="258"/>
            <ac:spMk id="6" creationId="{00000000-0000-0000-0000-000000000000}"/>
          </ac:spMkLst>
        </pc:spChg>
      </pc:sldChg>
      <pc:sldChg chg="modSp mod">
        <pc:chgData name="민엽 허" userId="688c9c03a5294cea" providerId="LiveId" clId="{DEB337A0-EA5B-44C9-A252-7D0AA4390C6E}" dt="2026-08-27T07:39:51.483" v="22" actId="113"/>
        <pc:sldMkLst>
          <pc:docMk/>
          <pc:sldMk cId="0" sldId="263"/>
        </pc:sldMkLst>
        <pc:graphicFrameChg chg="modGraphic">
          <ac:chgData name="민엽 허" userId="688c9c03a5294cea" providerId="LiveId" clId="{DEB337A0-EA5B-44C9-A252-7D0AA4390C6E}" dt="2026-08-27T07:39:51.483" v="22" actId="113"/>
          <ac:graphicFrameMkLst>
            <pc:docMk/>
            <pc:sldMk cId="0" sldId="263"/>
            <ac:graphicFrameMk id="7" creationId="{00000000-0000-0000-0000-000000000000}"/>
          </ac:graphicFrameMkLst>
        </pc:graphicFrameChg>
      </pc:sldChg>
      <pc:sldChg chg="modSp mod">
        <pc:chgData name="민엽 허" userId="688c9c03a5294cea" providerId="LiveId" clId="{DEB337A0-EA5B-44C9-A252-7D0AA4390C6E}" dt="2026-08-27T07:42:29.631" v="25" actId="1076"/>
        <pc:sldMkLst>
          <pc:docMk/>
          <pc:sldMk cId="0" sldId="264"/>
        </pc:sldMkLst>
        <pc:spChg chg="mod">
          <ac:chgData name="민엽 허" userId="688c9c03a5294cea" providerId="LiveId" clId="{DEB337A0-EA5B-44C9-A252-7D0AA4390C6E}" dt="2026-08-27T07:42:29.631" v="25" actId="1076"/>
          <ac:spMkLst>
            <pc:docMk/>
            <pc:sldMk cId="0" sldId="264"/>
            <ac:spMk id="6" creationId="{00000000-0000-0000-0000-000000000000}"/>
          </ac:spMkLst>
        </pc:spChg>
        <pc:graphicFrameChg chg="mod">
          <ac:chgData name="민엽 허" userId="688c9c03a5294cea" providerId="LiveId" clId="{DEB337A0-EA5B-44C9-A252-7D0AA4390C6E}" dt="2026-08-27T07:41:49.762" v="23" actId="1076"/>
          <ac:graphicFrameMkLst>
            <pc:docMk/>
            <pc:sldMk cId="0" sldId="264"/>
            <ac:graphicFrameMk id="7" creationId="{00000000-0000-0000-0000-000000000000}"/>
          </ac:graphicFrameMkLst>
        </pc:graphicFrameChg>
      </pc:sldChg>
      <pc:sldChg chg="modSp mod">
        <pc:chgData name="민엽 허" userId="688c9c03a5294cea" providerId="LiveId" clId="{DEB337A0-EA5B-44C9-A252-7D0AA4390C6E}" dt="2026-08-27T07:44:29.259" v="28" actId="113"/>
        <pc:sldMkLst>
          <pc:docMk/>
          <pc:sldMk cId="0" sldId="266"/>
        </pc:sldMkLst>
        <pc:graphicFrameChg chg="modGraphic">
          <ac:chgData name="민엽 허" userId="688c9c03a5294cea" providerId="LiveId" clId="{DEB337A0-EA5B-44C9-A252-7D0AA4390C6E}" dt="2026-08-27T07:44:29.259" v="28" actId="113"/>
          <ac:graphicFrameMkLst>
            <pc:docMk/>
            <pc:sldMk cId="0" sldId="266"/>
            <ac:graphicFrameMk id="7" creationId="{00000000-0000-0000-0000-000000000000}"/>
          </ac:graphicFrameMkLst>
        </pc:graphicFrameChg>
      </pc:sldChg>
      <pc:sldChg chg="modSp mod">
        <pc:chgData name="민엽 허" userId="688c9c03a5294cea" providerId="LiveId" clId="{DEB337A0-EA5B-44C9-A252-7D0AA4390C6E}" dt="2026-08-27T07:45:09.587" v="31" actId="113"/>
        <pc:sldMkLst>
          <pc:docMk/>
          <pc:sldMk cId="0" sldId="267"/>
        </pc:sldMkLst>
        <pc:spChg chg="mod">
          <ac:chgData name="민엽 허" userId="688c9c03a5294cea" providerId="LiveId" clId="{DEB337A0-EA5B-44C9-A252-7D0AA4390C6E}" dt="2026-08-27T07:44:36.345" v="30" actId="20578"/>
          <ac:spMkLst>
            <pc:docMk/>
            <pc:sldMk cId="0" sldId="267"/>
            <ac:spMk id="7" creationId="{00000000-0000-0000-0000-000000000000}"/>
          </ac:spMkLst>
        </pc:spChg>
        <pc:graphicFrameChg chg="modGraphic">
          <ac:chgData name="민엽 허" userId="688c9c03a5294cea" providerId="LiveId" clId="{DEB337A0-EA5B-44C9-A252-7D0AA4390C6E}" dt="2026-08-27T07:45:09.587" v="31" actId="113"/>
          <ac:graphicFrameMkLst>
            <pc:docMk/>
            <pc:sldMk cId="0" sldId="267"/>
            <ac:graphicFrameMk id="8" creationId="{00000000-0000-0000-0000-000000000000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17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73152"/>
          </a:xfrm>
          <a:prstGeom prst="rect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CNC 설비 정상 / 불량 판별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48132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C7D6E8"/>
                </a:solidFill>
                <a:latin typeface="맑은 고딕"/>
              </a:rPr>
              <a:t>UCI AI4I 2020 Predictive Maintenance 데이터 기반 이진분류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2A37"/>
                </a:solidFill>
                <a:latin typeface="맑은 고딕"/>
              </a:rPr>
              <a:t>설비 센서값으로 고장 여부를 판별하는 미니 프로젝트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5B6672"/>
                </a:solidFill>
                <a:latin typeface="맑은 고딕"/>
              </a:rPr>
              <a:t>탐색적 데이터 분석(EDA)  →  모델링 1차·2차·3차  →  데스크톱 UI 서빙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572000"/>
            <a:ext cx="6949440" cy="640080"/>
          </a:xfrm>
          <a:prstGeom prst="roundRect">
            <a:avLst/>
          </a:prstGeom>
          <a:solidFill>
            <a:srgbClr val="F2F4F7"/>
          </a:solidFill>
          <a:ln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300" b="1">
                <a:solidFill>
                  <a:srgbClr val="172B4D"/>
                </a:solidFill>
                <a:latin typeface="맑은 고딕"/>
              </a:rPr>
              <a:t>GitHub  ·  https://github.com/hmy7788/python_data_analyze</a:t>
            </a:r>
          </a:p>
        </p:txBody>
      </p:sp>
      <p:pic>
        <p:nvPicPr>
          <p:cNvPr id="8" name="Picture 7" descr="미니 프로젝트 흐름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276600"/>
            <a:ext cx="3200400" cy="2133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72B4D"/>
                </a:solidFill>
                <a:latin typeface="맑은 고딕"/>
              </a:rPr>
              <a:t>팀 구성 &amp; 역할 분담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80160" y="2103120"/>
          <a:ext cx="96012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이름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맑은 고딕"/>
                        </a:rPr>
                        <a:t>허민엽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맑은 고딕"/>
                        </a:rPr>
                        <a:t>크롤링 및 UI 설계 ①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맑은 고딕"/>
                        </a:rPr>
                        <a:t>최나연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맑은 고딕"/>
                        </a:rPr>
                        <a:t>크롤링 및 UI 설계 ②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맑은 고딕"/>
                        </a:rPr>
                        <a:t>이하연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맑은 고딕"/>
                        </a:rPr>
                        <a:t>데이터 분석 및 모델링 ①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맑은 고딕"/>
                        </a:rPr>
                        <a:t>최혁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맑은 고딕"/>
                        </a:rPr>
                        <a:t>데이터 분석 및 모델링 ②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280160" y="448056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672"/>
                </a:solidFill>
                <a:latin typeface="맑은 고딕"/>
              </a:rPr>
              <a:t>4인 미니 프로젝트  ·  데이터팀(분석·모델링) + 애플리케이션팀(크롤링·UI)으로 분담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1 · 데이터 수집 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72B4D"/>
                </a:solidFill>
                <a:latin typeface="맑은 고딕"/>
              </a:rPr>
              <a:t>어떤 데이터인가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735163"/>
            <a:ext cx="5760720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 dirty="0">
                <a:solidFill>
                  <a:srgbClr val="1F2A37"/>
                </a:solidFill>
                <a:latin typeface="맑은 고딕"/>
              </a:rPr>
              <a:t>•  UCI AI4I 2020 Predictive Maintenance Dataset</a:t>
            </a:r>
          </a:p>
          <a:p>
            <a:pPr lvl="1">
              <a:spcAft>
                <a:spcPts val="900"/>
              </a:spcAft>
            </a:pPr>
            <a:r>
              <a:rPr sz="1400" b="0" dirty="0">
                <a:solidFill>
                  <a:srgbClr val="5B6672"/>
                </a:solidFill>
                <a:latin typeface="맑은 고딕"/>
              </a:rPr>
              <a:t>– 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밀링</a:t>
            </a:r>
            <a:r>
              <a:rPr sz="14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머신</a:t>
            </a:r>
            <a:r>
              <a:rPr sz="14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가동</a:t>
            </a:r>
            <a:r>
              <a:rPr sz="14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데이터</a:t>
            </a:r>
            <a:endParaRPr sz="1400" b="0" dirty="0">
              <a:solidFill>
                <a:srgbClr val="5B6672"/>
              </a:solidFill>
              <a:latin typeface="맑은 고딕"/>
            </a:endParaRPr>
          </a:p>
          <a:p>
            <a:pPr lvl="1">
              <a:spcAft>
                <a:spcPts val="900"/>
              </a:spcAft>
            </a:pPr>
            <a:r>
              <a:rPr sz="1400" b="0" dirty="0">
                <a:solidFill>
                  <a:srgbClr val="5B6672"/>
                </a:solidFill>
                <a:latin typeface="맑은 고딕"/>
              </a:rPr>
              <a:t>–  10,000행 × 14열,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결측치·중복행</a:t>
            </a:r>
            <a:r>
              <a:rPr sz="14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없음</a:t>
            </a:r>
            <a:endParaRPr sz="1400" b="0" dirty="0">
              <a:solidFill>
                <a:srgbClr val="5B6672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500" b="0" dirty="0">
                <a:solidFill>
                  <a:srgbClr val="1F2A37"/>
                </a:solidFill>
                <a:latin typeface="맑은 고딕"/>
              </a:rPr>
              <a:t>•  한 행 =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설비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1회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가동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스냅샷</a:t>
            </a:r>
            <a:endParaRPr sz="1500" b="0" dirty="0">
              <a:solidFill>
                <a:srgbClr val="1F2A37"/>
              </a:solidFill>
              <a:latin typeface="맑은 고딕"/>
            </a:endParaRPr>
          </a:p>
          <a:p>
            <a:pPr lvl="1">
              <a:spcAft>
                <a:spcPts val="900"/>
              </a:spcAft>
            </a:pPr>
            <a:r>
              <a:rPr sz="1400" b="0" dirty="0">
                <a:solidFill>
                  <a:srgbClr val="5B6672"/>
                </a:solidFill>
                <a:latin typeface="맑은 고딕"/>
              </a:rPr>
              <a:t>– 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센서</a:t>
            </a:r>
            <a:r>
              <a:rPr sz="14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측정값</a:t>
            </a:r>
            <a:r>
              <a:rPr sz="1400" b="0" dirty="0">
                <a:solidFill>
                  <a:srgbClr val="5B6672"/>
                </a:solidFill>
                <a:latin typeface="맑은 고딕"/>
              </a:rPr>
              <a:t>(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온도·회전속도·토크·마모</a:t>
            </a:r>
            <a:r>
              <a:rPr sz="1400" b="0" dirty="0">
                <a:solidFill>
                  <a:srgbClr val="5B6672"/>
                </a:solidFill>
                <a:latin typeface="맑은 고딕"/>
              </a:rPr>
              <a:t>) +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고장</a:t>
            </a:r>
            <a:r>
              <a:rPr sz="14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여부</a:t>
            </a:r>
            <a:r>
              <a:rPr sz="14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라벨</a:t>
            </a:r>
            <a:endParaRPr sz="1400" b="0" dirty="0">
              <a:solidFill>
                <a:srgbClr val="5B6672"/>
              </a:solidFill>
              <a:latin typeface="맑은 고딕"/>
            </a:endParaRPr>
          </a:p>
        </p:txBody>
      </p:sp>
      <p:pic>
        <p:nvPicPr>
          <p:cNvPr id="7" name="Picture 6" descr="eda_histog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331720"/>
            <a:ext cx="4937760" cy="2468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5230368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수치형 변수 분포 — 온도·토크는 정규분포에 근접, 회전속도는 오른쪽 꼬리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1 · 데이터 수집 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72B4D"/>
                </a:solidFill>
                <a:latin typeface="맑은 고딕"/>
              </a:rPr>
              <a:t>컬럼 구성과 타겟 컬럼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783080"/>
          <a:ext cx="6583679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컬럼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설명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UDI / Product ID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식별자</a:t>
                      </a:r>
                      <a:endParaRPr sz="1050" b="0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Type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제품 품질 등급 (L 저가 / M 중가 / H 고가)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Air / Process temperature [K]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대기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온도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공정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온도</a:t>
                      </a:r>
                      <a:endParaRPr sz="1050" b="0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Rotational speed / Torque / Tool wear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회전속도 · 토크 · 공구 마모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Machine failure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고장 여부 (0/1)  ◀ 타겟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TWF / HDF / PWF / OSF / RNF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세부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고장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모드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(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공구마모·방열·전력·과부하·랜덤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82880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F2A37"/>
                </a:solidFill>
                <a:latin typeface="맑은 고딕"/>
              </a:rPr>
              <a:t>•  타겟 = Machine failure 이진분류</a:t>
            </a:r>
          </a:p>
          <a:p>
            <a:pPr lvl="1">
              <a:spcAft>
                <a:spcPts val="800"/>
              </a:spcAft>
            </a:pPr>
            <a:r>
              <a:rPr sz="1200" b="0">
                <a:solidFill>
                  <a:srgbClr val="5B6672"/>
                </a:solidFill>
                <a:latin typeface="맑은 고딕"/>
              </a:rPr>
              <a:t>–  EDA에서 Torque·Tool wear와 상관관계 확인 → 센서로 예측 가능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37"/>
                </a:solidFill>
                <a:latin typeface="맑은 고딕"/>
              </a:rPr>
              <a:t>•  세부 고장 모드(TWF~RNF)는 타겟과 사실상 동치</a:t>
            </a:r>
          </a:p>
          <a:p>
            <a:pPr lvl="1">
              <a:spcAft>
                <a:spcPts val="800"/>
              </a:spcAft>
            </a:pPr>
            <a:r>
              <a:rPr sz="1200" b="0">
                <a:solidFill>
                  <a:srgbClr val="5B6672"/>
                </a:solidFill>
                <a:latin typeface="맑은 고딕"/>
              </a:rPr>
              <a:t>–  → 입력에서 제외 (데이터 누수 방지)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37"/>
                </a:solidFill>
                <a:latin typeface="맑은 고딕"/>
              </a:rPr>
              <a:t>•  탐색 단계에서 Type 다중분류·Torque 회귀도 시도</a:t>
            </a:r>
          </a:p>
          <a:p>
            <a:pPr lvl="1">
              <a:spcAft>
                <a:spcPts val="800"/>
              </a:spcAft>
            </a:pPr>
            <a:r>
              <a:rPr sz="1200" b="0">
                <a:solidFill>
                  <a:srgbClr val="5B6672"/>
                </a:solidFill>
                <a:latin typeface="맑은 고딕"/>
              </a:rPr>
              <a:t>–  Type은 신호가 약함(AUC 0.5) → 이 문제로 확정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2 · 데이터 전처리 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72B4D"/>
                </a:solidFill>
                <a:latin typeface="맑은 고딕"/>
              </a:rPr>
              <a:t>처리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6949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컬럼명·Type·Product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ID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값의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앞뒤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공백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제거</a:t>
            </a:r>
            <a:endParaRPr sz="1400" b="0" dirty="0">
              <a:solidFill>
                <a:srgbClr val="1F2A37"/>
              </a:solidFill>
              <a:latin typeface="맑은 고딕"/>
            </a:endParaRPr>
          </a:p>
          <a:p>
            <a:pPr lvl="1">
              <a:spcAft>
                <a:spcPts val="900"/>
              </a:spcAft>
            </a:pPr>
            <a:r>
              <a:rPr sz="1300" b="0" dirty="0">
                <a:solidFill>
                  <a:srgbClr val="5B6672"/>
                </a:solidFill>
                <a:latin typeface="맑은 고딕"/>
              </a:rPr>
              <a:t>–  ' L   ' </a:t>
            </a:r>
            <a:r>
              <a:rPr sz="1300" b="0" dirty="0" err="1">
                <a:solidFill>
                  <a:srgbClr val="5B6672"/>
                </a:solidFill>
                <a:latin typeface="맑은 고딕"/>
              </a:rPr>
              <a:t>형태</a:t>
            </a:r>
            <a:r>
              <a:rPr sz="1300" b="0" dirty="0">
                <a:solidFill>
                  <a:srgbClr val="5B6672"/>
                </a:solidFill>
                <a:latin typeface="맑은 고딕"/>
              </a:rPr>
              <a:t> — strip 안 </a:t>
            </a:r>
            <a:r>
              <a:rPr sz="1300" b="0" dirty="0" err="1">
                <a:solidFill>
                  <a:srgbClr val="5B6672"/>
                </a:solidFill>
                <a:latin typeface="맑은 고딕"/>
              </a:rPr>
              <a:t>하면</a:t>
            </a:r>
            <a:r>
              <a:rPr sz="13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5B6672"/>
                </a:solidFill>
                <a:latin typeface="맑은 고딕"/>
              </a:rPr>
              <a:t>groupby</a:t>
            </a:r>
            <a:r>
              <a:rPr sz="1300" b="0" dirty="0">
                <a:solidFill>
                  <a:srgbClr val="5B6672"/>
                </a:solidFill>
                <a:latin typeface="맑은 고딕"/>
              </a:rPr>
              <a:t>/</a:t>
            </a:r>
            <a:r>
              <a:rPr sz="1300" b="0" dirty="0" err="1">
                <a:solidFill>
                  <a:srgbClr val="5B6672"/>
                </a:solidFill>
                <a:latin typeface="맑은 고딕"/>
              </a:rPr>
              <a:t>차트가</a:t>
            </a:r>
            <a:r>
              <a:rPr sz="1300" b="0" dirty="0">
                <a:solidFill>
                  <a:srgbClr val="5B6672"/>
                </a:solidFill>
                <a:latin typeface="맑은 고딕"/>
              </a:rPr>
              <a:t> 빈 </a:t>
            </a:r>
            <a:r>
              <a:rPr sz="1300" b="0" dirty="0" err="1">
                <a:solidFill>
                  <a:srgbClr val="5B6672"/>
                </a:solidFill>
                <a:latin typeface="맑은 고딕"/>
              </a:rPr>
              <a:t>결과로</a:t>
            </a:r>
            <a:r>
              <a:rPr sz="13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5B6672"/>
                </a:solidFill>
                <a:latin typeface="맑은 고딕"/>
              </a:rPr>
              <a:t>나옴</a:t>
            </a:r>
            <a:endParaRPr sz="1300" b="0" dirty="0">
              <a:solidFill>
                <a:srgbClr val="5B6672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4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식별자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제거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: UDI, Product ID</a:t>
            </a:r>
          </a:p>
          <a:p>
            <a:pPr>
              <a:spcAft>
                <a:spcPts val="900"/>
              </a:spcAft>
            </a:pPr>
            <a:r>
              <a:rPr sz="14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누수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컬럼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제거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: TWF / HDF / PWF / OSF / RNF (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타겟과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동치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)</a:t>
            </a:r>
          </a:p>
          <a:p>
            <a:pPr>
              <a:spcAft>
                <a:spcPts val="900"/>
              </a:spcAft>
            </a:pPr>
            <a:r>
              <a:rPr sz="1400" b="0" dirty="0">
                <a:solidFill>
                  <a:srgbClr val="1F2A37"/>
                </a:solidFill>
                <a:latin typeface="맑은 고딕"/>
              </a:rPr>
              <a:t>•  Type(L/M/H) → 원-핫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인코딩</a:t>
            </a:r>
            <a:endParaRPr sz="1400" b="0" dirty="0">
              <a:solidFill>
                <a:srgbClr val="1F2A37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400" b="0" dirty="0">
                <a:solidFill>
                  <a:srgbClr val="1F2A37"/>
                </a:solidFill>
                <a:latin typeface="맑은 고딕"/>
              </a:rPr>
              <a:t>•  train / test = 8 : 2,  stratify=y 로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정상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/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불량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비율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유지</a:t>
            </a:r>
            <a:endParaRPr sz="1400" b="0" dirty="0">
              <a:solidFill>
                <a:srgbClr val="1F2A37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400" b="0" dirty="0">
                <a:solidFill>
                  <a:srgbClr val="1F2A37"/>
                </a:solidFill>
                <a:latin typeface="맑은 고딕"/>
              </a:rPr>
              <a:t>•  1·2차: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MinMaxScaler로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0~1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정규화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 /  3차: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트리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모델이라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생략</a:t>
            </a:r>
            <a:endParaRPr sz="1400" b="0" dirty="0">
              <a:solidFill>
                <a:srgbClr val="1F2A37"/>
              </a:solidFill>
              <a:latin typeface="맑은 고딕"/>
            </a:endParaRPr>
          </a:p>
        </p:txBody>
      </p:sp>
      <p:pic>
        <p:nvPicPr>
          <p:cNvPr id="7" name="Picture 6" descr="eda_type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2103120"/>
            <a:ext cx="3657600" cy="2743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55279" y="4864608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Type 분포 (원-핫 인코딩 대상) — L 60% / M 30% / H 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2 · 데이터 전처리 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72B4D"/>
                </a:solidFill>
                <a:latin typeface="맑은 고딕"/>
              </a:rPr>
              <a:t>데이터는 어떻게 생겼나 — 클래스 불균형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eda_failure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960" y="1783080"/>
            <a:ext cx="3413760" cy="2560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361688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타겟 분포 — 정상 9,661 (96.6%)  vs  불량 339 (3.39%)</a:t>
            </a:r>
          </a:p>
        </p:txBody>
      </p:sp>
      <p:pic>
        <p:nvPicPr>
          <p:cNvPr id="8" name="Picture 7" descr="eda_failrate_by_ty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2281" y="1783080"/>
            <a:ext cx="3431918" cy="2560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09360" y="4361688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Type별 고장률 — L 3.92% &gt; M 2.77% &gt; H 2.09%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0916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타겟이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극심하게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불균형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—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정확도는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'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전부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정상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'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찍어도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96.6% →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지표로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무의미</a:t>
            </a:r>
            <a:endParaRPr sz="1300" b="0" dirty="0">
              <a:solidFill>
                <a:srgbClr val="1F2A37"/>
              </a:solidFill>
              <a:latin typeface="맑은 고딕"/>
            </a:endParaRPr>
          </a:p>
          <a:p>
            <a:pPr>
              <a:spcAft>
                <a:spcPts val="7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→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불량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(1)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클래스의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정밀도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·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재현율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· F1-score · ROC-AUC 로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평가</a:t>
            </a:r>
            <a:endParaRPr sz="1300" b="0" dirty="0">
              <a:solidFill>
                <a:srgbClr val="1F2A37"/>
              </a:solidFill>
              <a:latin typeface="맑은 고딕"/>
            </a:endParaRPr>
          </a:p>
          <a:p>
            <a:pPr>
              <a:spcAft>
                <a:spcPts val="7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→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불량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클래스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보정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: SMOTE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오버샘플링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+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class_weight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/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scale_pos_weight</a:t>
            </a:r>
            <a:endParaRPr sz="1300" b="0" dirty="0">
              <a:solidFill>
                <a:srgbClr val="1F2A37"/>
              </a:solidFill>
              <a:latin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3 · 데이터 학습  (1/4)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72B4D"/>
                </a:solidFill>
                <a:latin typeface="맑은 고딕"/>
              </a:rPr>
              <a:t>EDA 인사이트 — 무엇으로 고장을 설명할까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eda_cor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94114"/>
            <a:ext cx="4754880" cy="40756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60720" y="182880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다중공선성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기온↔공정온도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+0.88, 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회전속도↔토크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−0.88</a:t>
            </a:r>
          </a:p>
          <a:p>
            <a:pPr>
              <a:spcAft>
                <a:spcPts val="8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고장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상관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상위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: Torque 0.19 &gt; Tool wear 0.11 &gt; Air temp 0.08</a:t>
            </a:r>
          </a:p>
          <a:p>
            <a:pPr lvl="1">
              <a:spcAft>
                <a:spcPts val="800"/>
              </a:spcAft>
            </a:pPr>
            <a:r>
              <a:rPr sz="1200" b="0" dirty="0">
                <a:solidFill>
                  <a:srgbClr val="5B6672"/>
                </a:solidFill>
                <a:latin typeface="맑은 고딕"/>
              </a:rPr>
              <a:t>–  </a:t>
            </a:r>
            <a:r>
              <a:rPr sz="1200" b="0" dirty="0" err="1">
                <a:solidFill>
                  <a:srgbClr val="5B6672"/>
                </a:solidFill>
                <a:latin typeface="맑은 고딕"/>
              </a:rPr>
              <a:t>개별</a:t>
            </a:r>
            <a:r>
              <a:rPr sz="12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5B6672"/>
                </a:solidFill>
                <a:latin typeface="맑은 고딕"/>
              </a:rPr>
              <a:t>변수</a:t>
            </a:r>
            <a:r>
              <a:rPr sz="12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5B6672"/>
                </a:solidFill>
                <a:latin typeface="맑은 고딕"/>
              </a:rPr>
              <a:t>하나하나의</a:t>
            </a:r>
            <a:r>
              <a:rPr sz="12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5B6672"/>
                </a:solidFill>
                <a:latin typeface="맑은 고딕"/>
              </a:rPr>
              <a:t>신호는</a:t>
            </a:r>
            <a:r>
              <a:rPr sz="12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5B6672"/>
                </a:solidFill>
                <a:latin typeface="맑은 고딕"/>
              </a:rPr>
              <a:t>약한</a:t>
            </a:r>
            <a:r>
              <a:rPr sz="1200" b="0" dirty="0">
                <a:solidFill>
                  <a:srgbClr val="5B6672"/>
                </a:solidFill>
                <a:latin typeface="맑은 고딕"/>
              </a:rPr>
              <a:t> 편</a:t>
            </a:r>
          </a:p>
          <a:p>
            <a:pPr>
              <a:spcAft>
                <a:spcPts val="8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세부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고장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모드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빈도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: HDF 115 &gt; OSF 98 &gt; PWF 95 &gt; TWF 46 &gt; RNF 19</a:t>
            </a:r>
          </a:p>
          <a:p>
            <a:pPr>
              <a:spcAft>
                <a:spcPts val="8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Type별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고장률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저가형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L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일수록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높음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(3.92% → 2.09%)</a:t>
            </a:r>
          </a:p>
          <a:p>
            <a:pPr>
              <a:spcAft>
                <a:spcPts val="8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라벨이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100%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결정론적이지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않음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(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불일치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27건,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특히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RNF)</a:t>
            </a:r>
          </a:p>
          <a:p>
            <a:pPr>
              <a:spcAft>
                <a:spcPts val="8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→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가설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: '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개별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값'보다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'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실제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고장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판정에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쓰이는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조합'이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강한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신호</a:t>
            </a:r>
            <a:endParaRPr sz="1300" b="0" dirty="0">
              <a:solidFill>
                <a:srgbClr val="1F2A37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3 · 데이터 학습  (2/4)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72B4D"/>
                </a:solidFill>
                <a:latin typeface="맑은 고딕"/>
              </a:rPr>
              <a:t>1차 — Baseline  (model_1.ipynb)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원본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변수만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+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MinMax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정규화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+ SMOTE(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RF에만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) —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파생변수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없음</a:t>
            </a:r>
            <a:endParaRPr sz="1300" b="0" dirty="0">
              <a:solidFill>
                <a:srgbClr val="1F2A37"/>
              </a:solidFill>
              <a:latin typeface="맑은 고딕"/>
            </a:endParaRPr>
          </a:p>
          <a:p>
            <a:pPr>
              <a:spcAft>
                <a:spcPts val="7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모델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3종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단순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비교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: RF(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예측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임계값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0.3,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class_weight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=balanced) ·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XGBoost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·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LightGBM</a:t>
            </a:r>
            <a:endParaRPr sz="1300" b="0" dirty="0">
              <a:solidFill>
                <a:srgbClr val="1F2A37"/>
              </a:solidFill>
              <a:latin typeface="맑은 고딕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245126"/>
              </p:ext>
            </p:extLst>
          </p:nvPr>
        </p:nvGraphicFramePr>
        <p:xfrm>
          <a:off x="822960" y="3063240"/>
          <a:ext cx="1051560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정확도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정밀도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재현율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F1-score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Random Forest (임계값 0.3 + SMOTE)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0.942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0.35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0.85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F2A37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XGBoost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0.984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0.91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0.59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F2A37"/>
                          </a:solidFill>
                          <a:latin typeface="맑은 고딕"/>
                        </a:rPr>
                        <a:t>0.71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LightGBM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0.985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0.89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0.62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F2A37"/>
                          </a:solidFill>
                          <a:latin typeface="맑은 고딕"/>
                        </a:rPr>
                        <a:t>0.73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47548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RF는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재현율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0.85로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높지만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정밀도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0.35 (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정상을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불량으로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오탐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99건)</a:t>
            </a:r>
          </a:p>
          <a:p>
            <a:pPr>
              <a:spcAft>
                <a:spcPts val="6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XGBoost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/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LightGBM은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정밀도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0.9대지만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재현율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0.6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전후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—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실제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불량의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약 40%를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놓침</a:t>
            </a:r>
            <a:endParaRPr sz="1250" b="0" dirty="0">
              <a:solidFill>
                <a:srgbClr val="1F2A37"/>
              </a:solidFill>
              <a:latin typeface="맑은 고딕"/>
            </a:endParaRPr>
          </a:p>
          <a:p>
            <a:pPr>
              <a:spcAft>
                <a:spcPts val="6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→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원본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변수만으로는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정밀도와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재현율을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동시에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잡는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모델이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없다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 → 2차로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3 · 데이터 학습  (3/4)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72B4D"/>
                </a:solidFill>
                <a:latin typeface="맑은 고딕"/>
              </a:rPr>
              <a:t>2차 — 피처 엔지니어링 + 튜닝  (model_2.ipynb)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607040" cy="8745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파생변수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7개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추가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Power,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Temp_diff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,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Power_wear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,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Torque_per_RPM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,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Torque_wear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,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Temp_Torque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,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Temp_ratio</a:t>
            </a:r>
            <a:endParaRPr sz="1250" b="0" dirty="0">
              <a:solidFill>
                <a:srgbClr val="1F2A37"/>
              </a:solidFill>
              <a:latin typeface="맑은 고딕"/>
            </a:endParaRPr>
          </a:p>
          <a:p>
            <a:pPr>
              <a:spcAft>
                <a:spcPts val="8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RandomForest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튜닝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RandomizedSearchCV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,  scoring="recall" (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재현율을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직접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최적화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),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n_iter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=30, cv=5</a:t>
            </a:r>
          </a:p>
          <a:p>
            <a:pPr>
              <a:spcAft>
                <a:spcPts val="8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최적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n_estimators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=300 ·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max_depth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=None ·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min_samples_leaf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=2 ·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max_features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=log2 ·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class_weight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={0:1, 1:8}  ·  CV recall 0.995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2668221"/>
              </p:ext>
            </p:extLst>
          </p:nvPr>
        </p:nvGraphicFramePr>
        <p:xfrm>
          <a:off x="868680" y="4197096"/>
          <a:ext cx="105156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정확도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정밀도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재현율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F1-score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1차 Random Forest (임계값 0.3)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0.942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0.35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0.85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2차 Random Forest (RandomizedSearchCV 튜닝)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0.940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0.34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0.91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F2A37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525780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재현율은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0.85 → 0.91로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올랐지만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,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정밀도가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0.34로 더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떨어지고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F1은 0.50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그대로</a:t>
            </a:r>
            <a:endParaRPr sz="1250" b="0" dirty="0">
              <a:solidFill>
                <a:srgbClr val="1F2A37"/>
              </a:solidFill>
              <a:latin typeface="맑은 고딕"/>
            </a:endParaRPr>
          </a:p>
          <a:p>
            <a:pPr>
              <a:spcAft>
                <a:spcPts val="6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→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재현율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한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축만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튜닝하면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정밀도를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깎을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뿐,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트레이드오프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자체는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안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풀림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 → 3차로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3 · 데이터 학습  (4/4)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72B4D"/>
                </a:solidFill>
                <a:latin typeface="맑은 고딕"/>
              </a:rPr>
              <a:t>3차 — 위험구간(risk_zone) 피처  (model_3.ipynb, 최종)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접근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전환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모델이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규칙을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찾게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두지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말고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,</a:t>
            </a:r>
          </a:p>
          <a:p>
            <a:pPr lvl="1">
              <a:spcAft>
                <a:spcPts val="700"/>
              </a:spcAft>
            </a:pPr>
            <a:r>
              <a:rPr sz="1150" b="0" dirty="0">
                <a:solidFill>
                  <a:srgbClr val="5B6672"/>
                </a:solidFill>
                <a:latin typeface="맑은 고딕"/>
              </a:rPr>
              <a:t>–  UCI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공식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문서의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고장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판정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임계값을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직접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피처로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주입</a:t>
            </a:r>
            <a:endParaRPr sz="1150" b="0" dirty="0">
              <a:solidFill>
                <a:srgbClr val="5B6672"/>
              </a:solidFill>
              <a:latin typeface="맑은 고딕"/>
            </a:endParaRPr>
          </a:p>
          <a:p>
            <a:pPr>
              <a:spcAft>
                <a:spcPts val="7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hdf_zone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온도차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&lt;8.6K AND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회전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&lt;1380rpm</a:t>
            </a:r>
          </a:p>
          <a:p>
            <a:pPr>
              <a:spcAft>
                <a:spcPts val="7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pwf_zone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동력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&lt;3500W OR &gt;9000W</a:t>
            </a:r>
          </a:p>
          <a:p>
            <a:pPr>
              <a:spcAft>
                <a:spcPts val="7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osf_zone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토크×마모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&gt;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Type별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임계값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(L11k/M12k/H13k)</a:t>
            </a:r>
          </a:p>
          <a:p>
            <a:pPr>
              <a:spcAft>
                <a:spcPts val="7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high_wear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공구마모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&gt;200분   / 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risk_zone_count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합산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(0~4)</a:t>
            </a:r>
          </a:p>
          <a:p>
            <a:pPr>
              <a:spcAft>
                <a:spcPts val="7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risk_zone_count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↔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고장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상관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0.630 (torque 0.191의 3배)</a:t>
            </a:r>
          </a:p>
          <a:p>
            <a:pPr>
              <a:spcAft>
                <a:spcPts val="7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불량률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0개 0.11% / 1개 27.2% / 2개+ → 100%</a:t>
            </a:r>
          </a:p>
        </p:txBody>
      </p:sp>
      <p:pic>
        <p:nvPicPr>
          <p:cNvPr id="7" name="Picture 6" descr="modeling2_risk_zone_failure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8595" y="1737360"/>
            <a:ext cx="3250809" cy="2148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3904488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위험구간 개수 vs 실제 불량률</a:t>
            </a:r>
          </a:p>
        </p:txBody>
      </p:sp>
      <p:pic>
        <p:nvPicPr>
          <p:cNvPr id="9" name="Picture 8" descr="modeling2_feature_corre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5047" y="4114800"/>
            <a:ext cx="2517906" cy="2148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0" y="6281928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원본 변수 vs 파생변수(zone) — 불량 예측력 비교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4 · 모델 검증 및 개선 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72B4D"/>
                </a:solidFill>
                <a:latin typeface="맑은 고딕"/>
              </a:rPr>
              <a:t>Baseline vs Enhanced × 모델 3종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modeling2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13728"/>
            <a:ext cx="6492240" cy="343638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177459"/>
              </p:ext>
            </p:extLst>
          </p:nvPr>
        </p:nvGraphicFramePr>
        <p:xfrm>
          <a:off x="7406640" y="1783080"/>
          <a:ext cx="420624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모델 / 피처셋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F1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AUC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RF · Baseline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0.727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0.970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XGB · Baseline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0.756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0.970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LGBM · Baseline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0.800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0.971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RF · Enhanced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1F2A37"/>
                          </a:solidFill>
                          <a:latin typeface="맑은 고딕"/>
                        </a:rPr>
                        <a:t>0.912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0.973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XGB · Enhanced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0.884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0.973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LGBM · Enhanced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0.898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0.974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06640" y="4480560"/>
            <a:ext cx="4297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 b="0">
                <a:solidFill>
                  <a:srgbClr val="1F2A37"/>
                </a:solidFill>
                <a:latin typeface="맑은 고딕"/>
              </a:rPr>
              <a:t>•  3개 모델 전부 F1 상승</a:t>
            </a:r>
          </a:p>
          <a:p>
            <a:pPr lvl="1">
              <a:spcAft>
                <a:spcPts val="700"/>
              </a:spcAft>
            </a:pPr>
            <a:r>
              <a:rPr sz="1100" b="0">
                <a:solidFill>
                  <a:srgbClr val="5B6672"/>
                </a:solidFill>
                <a:latin typeface="맑은 고딕"/>
              </a:rPr>
              <a:t>–  RF +0.185 / XGB +0.128 / LGBM +0.098</a:t>
            </a:r>
          </a:p>
          <a:p>
            <a:pPr>
              <a:spcAft>
                <a:spcPts val="700"/>
              </a:spcAft>
            </a:pPr>
            <a:r>
              <a:rPr sz="1200" b="0">
                <a:solidFill>
                  <a:srgbClr val="1F2A37"/>
                </a:solidFill>
                <a:latin typeface="맑은 고딕"/>
              </a:rPr>
              <a:t>•  → 특정 알고리즘 과적합이 아닌 일반적 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4 · 모델 검증 및 개선 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72B4D"/>
                </a:solidFill>
                <a:latin typeface="맑은 고딕"/>
              </a:rPr>
              <a:t>혼동행렬 &amp; 최종 모델 채택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modeling2_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678" y="1691640"/>
            <a:ext cx="5375283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173736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 dirty="0">
                <a:solidFill>
                  <a:srgbClr val="1F2A37"/>
                </a:solidFill>
                <a:latin typeface="맑은 고딕"/>
              </a:rPr>
              <a:t>•  Baseline </a:t>
            </a:r>
            <a:r>
              <a:rPr sz="1200" b="0" dirty="0" err="1">
                <a:solidFill>
                  <a:srgbClr val="1F2A37"/>
                </a:solidFill>
                <a:latin typeface="맑은 고딕"/>
              </a:rPr>
              <a:t>최고는</a:t>
            </a:r>
            <a:r>
              <a:rPr sz="12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1F2A37"/>
                </a:solidFill>
                <a:latin typeface="맑은 고딕"/>
              </a:rPr>
              <a:t>LightGBM</a:t>
            </a:r>
            <a:r>
              <a:rPr sz="1200" b="0" dirty="0">
                <a:solidFill>
                  <a:srgbClr val="1F2A37"/>
                </a:solidFill>
                <a:latin typeface="맑은 고딕"/>
              </a:rPr>
              <a:t> (F1 0.800)</a:t>
            </a:r>
          </a:p>
          <a:p>
            <a:pPr>
              <a:spcAft>
                <a:spcPts val="600"/>
              </a:spcAft>
            </a:pPr>
            <a:r>
              <a:rPr sz="12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00" b="0" dirty="0" err="1">
                <a:solidFill>
                  <a:srgbClr val="1F2A37"/>
                </a:solidFill>
                <a:latin typeface="맑은 고딕"/>
              </a:rPr>
              <a:t>Enhanced에서</a:t>
            </a:r>
            <a:r>
              <a:rPr sz="1200" b="0" dirty="0">
                <a:solidFill>
                  <a:srgbClr val="1F2A37"/>
                </a:solidFill>
                <a:latin typeface="맑은 고딕"/>
              </a:rPr>
              <a:t> Random </a:t>
            </a:r>
            <a:r>
              <a:rPr sz="1200" b="0" dirty="0" err="1">
                <a:solidFill>
                  <a:srgbClr val="1F2A37"/>
                </a:solidFill>
                <a:latin typeface="맑은 고딕"/>
              </a:rPr>
              <a:t>Forest가</a:t>
            </a:r>
            <a:r>
              <a:rPr sz="12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1F2A37"/>
                </a:solidFill>
                <a:latin typeface="맑은 고딕"/>
              </a:rPr>
              <a:t>역전</a:t>
            </a:r>
            <a:endParaRPr sz="1200" b="0" dirty="0">
              <a:solidFill>
                <a:srgbClr val="1F2A37"/>
              </a:solidFill>
              <a:latin typeface="맑은 고딕"/>
            </a:endParaRPr>
          </a:p>
          <a:p>
            <a:pPr lvl="1">
              <a:spcAft>
                <a:spcPts val="600"/>
              </a:spcAft>
            </a:pPr>
            <a:r>
              <a:rPr sz="1100" b="0" dirty="0">
                <a:solidFill>
                  <a:srgbClr val="5B6672"/>
                </a:solidFill>
                <a:latin typeface="맑은 고딕"/>
              </a:rPr>
              <a:t>–  F1 0.912 · </a:t>
            </a:r>
            <a:r>
              <a:rPr sz="1100" b="0" dirty="0" err="1">
                <a:solidFill>
                  <a:srgbClr val="5B6672"/>
                </a:solidFill>
                <a:latin typeface="맑은 고딕"/>
              </a:rPr>
              <a:t>정밀도</a:t>
            </a:r>
            <a:r>
              <a:rPr sz="1100" b="0" dirty="0">
                <a:solidFill>
                  <a:srgbClr val="5B6672"/>
                </a:solidFill>
                <a:latin typeface="맑은 고딕"/>
              </a:rPr>
              <a:t> 1.000 · </a:t>
            </a:r>
            <a:r>
              <a:rPr sz="1100" b="0" dirty="0" err="1">
                <a:solidFill>
                  <a:srgbClr val="5B6672"/>
                </a:solidFill>
                <a:latin typeface="맑은 고딕"/>
              </a:rPr>
              <a:t>재현율</a:t>
            </a:r>
            <a:r>
              <a:rPr sz="1100" b="0" dirty="0">
                <a:solidFill>
                  <a:srgbClr val="5B6672"/>
                </a:solidFill>
                <a:latin typeface="맑은 고딕"/>
              </a:rPr>
              <a:t> 0.838 · AUC 0.973</a:t>
            </a:r>
          </a:p>
          <a:p>
            <a:pPr>
              <a:spcAft>
                <a:spcPts val="600"/>
              </a:spcAft>
            </a:pPr>
            <a:r>
              <a:rPr sz="12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00" b="0" dirty="0" err="1">
                <a:solidFill>
                  <a:srgbClr val="1F2A37"/>
                </a:solidFill>
                <a:latin typeface="맑은 고딕"/>
              </a:rPr>
              <a:t>재현율</a:t>
            </a:r>
            <a:r>
              <a:rPr sz="1200" b="0" dirty="0">
                <a:solidFill>
                  <a:srgbClr val="1F2A37"/>
                </a:solidFill>
                <a:latin typeface="맑은 고딕"/>
              </a:rPr>
              <a:t> 0.838은 Enhanced 3모델 </a:t>
            </a:r>
            <a:r>
              <a:rPr sz="1200" b="0" dirty="0" err="1">
                <a:solidFill>
                  <a:srgbClr val="1F2A37"/>
                </a:solidFill>
                <a:latin typeface="맑은 고딕"/>
              </a:rPr>
              <a:t>동일</a:t>
            </a:r>
            <a:endParaRPr sz="1200" b="0" dirty="0">
              <a:solidFill>
                <a:srgbClr val="1F2A37"/>
              </a:solidFill>
              <a:latin typeface="맑은 고딕"/>
            </a:endParaRPr>
          </a:p>
          <a:p>
            <a:pPr lvl="1">
              <a:spcAft>
                <a:spcPts val="600"/>
              </a:spcAft>
            </a:pPr>
            <a:r>
              <a:rPr sz="1100" b="0" dirty="0">
                <a:solidFill>
                  <a:srgbClr val="5B6672"/>
                </a:solidFill>
                <a:latin typeface="맑은 고딕"/>
              </a:rPr>
              <a:t>–  risk_zone_count≥2 → </a:t>
            </a:r>
            <a:r>
              <a:rPr sz="1100" b="0" dirty="0" err="1">
                <a:solidFill>
                  <a:srgbClr val="5B6672"/>
                </a:solidFill>
                <a:latin typeface="맑은 고딕"/>
              </a:rPr>
              <a:t>불량률</a:t>
            </a:r>
            <a:r>
              <a:rPr sz="1100" b="0" dirty="0">
                <a:solidFill>
                  <a:srgbClr val="5B6672"/>
                </a:solidFill>
                <a:latin typeface="맑은 고딕"/>
              </a:rPr>
              <a:t> 100% </a:t>
            </a:r>
            <a:r>
              <a:rPr sz="1100" b="0" dirty="0" err="1">
                <a:solidFill>
                  <a:srgbClr val="5B6672"/>
                </a:solidFill>
                <a:latin typeface="맑은 고딕"/>
              </a:rPr>
              <a:t>규칙이</a:t>
            </a:r>
            <a:r>
              <a:rPr sz="11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B6672"/>
                </a:solidFill>
                <a:latin typeface="맑은 고딕"/>
              </a:rPr>
              <a:t>강력</a:t>
            </a:r>
            <a:endParaRPr sz="1100" b="0" dirty="0">
              <a:solidFill>
                <a:srgbClr val="5B6672"/>
              </a:solidFill>
              <a:latin typeface="맑은 고딕"/>
            </a:endParaRPr>
          </a:p>
          <a:p>
            <a:pPr>
              <a:spcAft>
                <a:spcPts val="600"/>
              </a:spcAft>
            </a:pPr>
            <a:r>
              <a:rPr sz="12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00" b="0" dirty="0" err="1">
                <a:solidFill>
                  <a:srgbClr val="1F2A37"/>
                </a:solidFill>
                <a:latin typeface="맑은 고딕"/>
              </a:rPr>
              <a:t>AUC는</a:t>
            </a:r>
            <a:r>
              <a:rPr sz="1200" b="0" dirty="0">
                <a:solidFill>
                  <a:srgbClr val="1F2A37"/>
                </a:solidFill>
                <a:latin typeface="맑은 고딕"/>
              </a:rPr>
              <a:t> 6조합 0.970~0.974로 </a:t>
            </a:r>
            <a:r>
              <a:rPr sz="1200" b="0" dirty="0" err="1">
                <a:solidFill>
                  <a:srgbClr val="1F2A37"/>
                </a:solidFill>
                <a:latin typeface="맑은 고딕"/>
              </a:rPr>
              <a:t>거의</a:t>
            </a:r>
            <a:r>
              <a:rPr sz="12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1F2A37"/>
                </a:solidFill>
                <a:latin typeface="맑은 고딕"/>
              </a:rPr>
              <a:t>동일</a:t>
            </a:r>
            <a:endParaRPr sz="1200" b="0" dirty="0">
              <a:solidFill>
                <a:srgbClr val="1F2A37"/>
              </a:solidFill>
              <a:latin typeface="맑은 고딕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1638879"/>
              </p:ext>
            </p:extLst>
          </p:nvPr>
        </p:nvGraphicFramePr>
        <p:xfrm>
          <a:off x="685800" y="5212080"/>
          <a:ext cx="850392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접근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정밀도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재현율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F1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1차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Baseline + 임계값 0.3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0.35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0.85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2차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파생변수 + recall 튜닝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0.34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0.91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3차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위험구간 피처 (RF·Enhanced) ◀ 최종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2A37"/>
                          </a:solidFill>
                          <a:latin typeface="맑은 고딕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F2A37"/>
                          </a:solidFill>
                          <a:latin typeface="맑은 고딕"/>
                        </a:rPr>
                        <a:t>0.838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1F2A37"/>
                          </a:solidFill>
                          <a:latin typeface="맑은 고딕"/>
                        </a:rPr>
                        <a:t>0.912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418320" y="5257800"/>
            <a:ext cx="23774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dirty="0" err="1">
                <a:solidFill>
                  <a:srgbClr val="03C75A"/>
                </a:solidFill>
                <a:latin typeface="맑은 고딕"/>
              </a:rPr>
              <a:t>최종</a:t>
            </a:r>
            <a:r>
              <a:rPr sz="1100" b="1" dirty="0">
                <a:solidFill>
                  <a:srgbClr val="03C75A"/>
                </a:solidFill>
                <a:latin typeface="맑은 고딕"/>
              </a:rPr>
              <a:t> </a:t>
            </a:r>
            <a:r>
              <a:rPr sz="1100" b="1" dirty="0" err="1">
                <a:solidFill>
                  <a:srgbClr val="03C75A"/>
                </a:solidFill>
                <a:latin typeface="맑은 고딕"/>
              </a:rPr>
              <a:t>배포</a:t>
            </a:r>
            <a:endParaRPr sz="1100" b="1" dirty="0">
              <a:solidFill>
                <a:srgbClr val="03C75A"/>
              </a:solidFill>
              <a:latin typeface="맑은 고딕"/>
            </a:endParaRPr>
          </a:p>
          <a:p>
            <a:pPr algn="l">
              <a:spcAft>
                <a:spcPts val="400"/>
              </a:spcAft>
            </a:pPr>
            <a:r>
              <a:rPr sz="1000" b="0" dirty="0">
                <a:solidFill>
                  <a:srgbClr val="5B6672"/>
                </a:solidFill>
                <a:latin typeface="맑은 고딕"/>
              </a:rPr>
              <a:t>model/</a:t>
            </a:r>
            <a:r>
              <a:rPr sz="1000" b="0" dirty="0" err="1">
                <a:solidFill>
                  <a:srgbClr val="5B6672"/>
                </a:solidFill>
                <a:latin typeface="맑은 고딕"/>
              </a:rPr>
              <a:t>random_forest</a:t>
            </a:r>
            <a:r>
              <a:rPr sz="1000" b="0" dirty="0">
                <a:solidFill>
                  <a:srgbClr val="5B6672"/>
                </a:solidFill>
                <a:latin typeface="맑은 고딕"/>
              </a:rPr>
              <a:t>_
</a:t>
            </a:r>
            <a:r>
              <a:rPr sz="1000" b="0" dirty="0" err="1">
                <a:solidFill>
                  <a:srgbClr val="5B6672"/>
                </a:solidFill>
                <a:latin typeface="맑은 고딕"/>
              </a:rPr>
              <a:t>enhanced.joblib</a:t>
            </a:r>
            <a:endParaRPr sz="1000" b="0" dirty="0">
              <a:solidFill>
                <a:srgbClr val="5B6672"/>
              </a:solidFill>
              <a:latin typeface="맑은 고딕"/>
            </a:endParaRPr>
          </a:p>
          <a:p>
            <a:pPr algn="l">
              <a:spcAft>
                <a:spcPts val="0"/>
              </a:spcAft>
            </a:pPr>
            <a:r>
              <a:rPr sz="900" b="0" dirty="0">
                <a:solidFill>
                  <a:srgbClr val="5B6672"/>
                </a:solidFill>
                <a:latin typeface="맑은 고딕"/>
              </a:rPr>
              <a:t>model + features(15) +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5 · UI 시스템 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72B4D"/>
                </a:solidFill>
                <a:latin typeface="맑은 고딕"/>
              </a:rPr>
              <a:t>기능 — 데스크톱 앱 (Tkinter)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U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40" y="1737360"/>
            <a:ext cx="4818919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40740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① 전체 데이터 한눈에 보기</a:t>
            </a:r>
          </a:p>
        </p:txBody>
      </p:sp>
      <p:pic>
        <p:nvPicPr>
          <p:cNvPr id="8" name="Picture 7" descr="U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0058" y="4526280"/>
            <a:ext cx="3137884" cy="1737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62819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③ 모델 입력 · 예측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78308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1F2A37"/>
                </a:solidFill>
                <a:latin typeface="맑은 고딕"/>
              </a:rPr>
              <a:t>•  좌측 3개 탭</a:t>
            </a:r>
          </a:p>
          <a:p>
            <a:pPr lvl="1">
              <a:spcAft>
                <a:spcPts val="700"/>
              </a:spcAft>
            </a:pPr>
            <a:r>
              <a:rPr sz="1150" b="0">
                <a:solidFill>
                  <a:srgbClr val="5B6672"/>
                </a:solidFill>
                <a:latin typeface="맑은 고딕"/>
              </a:rPr>
              <a:t>–  ① 전체 데이터: 요약 카드 4 + 그래프 12</a:t>
            </a:r>
          </a:p>
          <a:p>
            <a:pPr lvl="1">
              <a:spcAft>
                <a:spcPts val="700"/>
              </a:spcAft>
            </a:pPr>
            <a:r>
              <a:rPr sz="1150" b="0">
                <a:solidFill>
                  <a:srgbClr val="5B6672"/>
                </a:solidFill>
                <a:latin typeface="맑은 고딕"/>
              </a:rPr>
              <a:t>–  ② 모델 훈련 결과: 지표 카드 5 + 비교 그래프</a:t>
            </a:r>
          </a:p>
          <a:p>
            <a:pPr lvl="1">
              <a:spcAft>
                <a:spcPts val="700"/>
              </a:spcAft>
            </a:pPr>
            <a:r>
              <a:rPr sz="1150" b="0">
                <a:solidFill>
                  <a:srgbClr val="5B6672"/>
                </a:solidFill>
                <a:latin typeface="맑은 고딕"/>
              </a:rPr>
              <a:t>–  ③ 모델 입력 → 정상/불량 + 불량 확률 예측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F2A37"/>
                </a:solidFill>
                <a:latin typeface="맑은 고딕"/>
              </a:rPr>
              <a:t>•  입력 6개(Type·기온·공정온도·회전속도·토크·마모)</a:t>
            </a:r>
          </a:p>
          <a:p>
            <a:pPr lvl="1">
              <a:spcAft>
                <a:spcPts val="700"/>
              </a:spcAft>
            </a:pPr>
            <a:r>
              <a:rPr sz="1150" b="0">
                <a:solidFill>
                  <a:srgbClr val="5B6672"/>
                </a:solidFill>
                <a:latin typeface="맑은 고딕"/>
              </a:rPr>
              <a:t>–  → 15개 피처(위험구간 포함)로 변환 후 예측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F2A37"/>
                </a:solidFill>
                <a:latin typeface="맑은 고딕"/>
              </a:rPr>
              <a:t>•  우측: 네이버 뉴스 크롤링</a:t>
            </a:r>
          </a:p>
          <a:p>
            <a:pPr lvl="1">
              <a:spcAft>
                <a:spcPts val="700"/>
              </a:spcAft>
            </a:pPr>
            <a:r>
              <a:rPr sz="1150" b="0">
                <a:solidFill>
                  <a:srgbClr val="5B6672"/>
                </a:solidFill>
                <a:latin typeface="맑은 고딕"/>
              </a:rPr>
              <a:t>–  그래프 카드 클릭 시 그 인사이트 키워드로 재검색</a:t>
            </a:r>
          </a:p>
          <a:p>
            <a:pPr lvl="1">
              <a:spcAft>
                <a:spcPts val="700"/>
              </a:spcAft>
            </a:pPr>
            <a:r>
              <a:rPr sz="1150" b="0">
                <a:solidFill>
                  <a:srgbClr val="5B6672"/>
                </a:solidFill>
                <a:latin typeface="맑은 고딕"/>
              </a:rPr>
              <a:t>–  EDA 결과 ↔ 실제 업계 뉴스 교차검증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5 · UI 시스템 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72B4D"/>
                </a:solidFill>
                <a:latin typeface="맑은 고딕"/>
              </a:rPr>
              <a:t>아키텍처 — src/UI/ 4개 모듈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미니 프로젝트 흐름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62200"/>
            <a:ext cx="4572000" cy="3048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577840" y="1783080"/>
          <a:ext cx="60350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모듈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main.py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위젯 조립 · 좌/우 라우팅 · 배경 스레드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visualizer.py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CSV → matplotlib Figure (그래프 12종)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crawler.py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검색어 → 네이버 뉴스 HTML → 기사 목록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model_predictor.py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joblib 모델 로드 · 입력 → 예측/지표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77840" y="3840480"/>
            <a:ext cx="6126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맑은 고딕"/>
              </a:rPr>
              <a:t>•  visualizer / crawler / model_predictor는 Tkinter를 import하지 않음 → 다른 UI로 교체 가능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맑은 고딕"/>
              </a:rPr>
              <a:t>•  model_predictor가 joblib을 지표의 단일 출처로 사용 (숫자 하드코딩 없음)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맑은 고딕"/>
              </a:rPr>
              <a:t>•  크롤링 레이스 컨디션: request_id 가드로 '최신 요청 결과만' 반영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7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마무리 — 핵심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607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 b="0">
                <a:solidFill>
                  <a:srgbClr val="1F2A37"/>
                </a:solidFill>
                <a:latin typeface="맑은 고딕"/>
              </a:rPr>
              <a:t>•  "모델을 더 잘 튜닝"(1·2차)보다 "도메인 지식을 피처로 주입"(3차)이 결정적 —  F1  0.50 → 0.912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1F2A37"/>
                </a:solidFill>
                <a:latin typeface="맑은 고딕"/>
              </a:rPr>
              <a:t>•  불균형 데이터는 정확도·AUC만으로 판단 금지 → 정밀도 · 재현율 · F1 함께 확인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1F2A37"/>
                </a:solidFill>
                <a:latin typeface="맑은 고딕"/>
              </a:rPr>
              <a:t>•  근거 기반 피처 엔지니어링 — 데이터셋 공식 문서의 고장 판정 조건을 그대로 피처화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1F2A37"/>
                </a:solidFill>
                <a:latin typeface="맑은 고딕"/>
              </a:rPr>
              <a:t>•  학습된 모델을 joblib 한 파일(model + features + metrics)로 저장 → 데스크톱 UI에서 실시간 예측 서빙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349240"/>
            <a:ext cx="8229600" cy="685800"/>
          </a:xfrm>
          <a:prstGeom prst="roundRect">
            <a:avLst/>
          </a:prstGeom>
          <a:solidFill>
            <a:srgbClr val="F2F4F7"/>
          </a:solidFill>
          <a:ln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300" b="1">
                <a:solidFill>
                  <a:srgbClr val="172B4D"/>
                </a:solidFill>
                <a:latin typeface="맑은 고딕"/>
              </a:rPr>
              <a:t>GitHub  ·  https://github.com/hmy7788/python_data_analyze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1850</Words>
  <Application>Microsoft Office PowerPoint</Application>
  <PresentationFormat>와이드스크린</PresentationFormat>
  <Paragraphs>254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민엽 허</cp:lastModifiedBy>
  <cp:revision>1</cp:revision>
  <dcterms:created xsi:type="dcterms:W3CDTF">2013-01-27T09:14:16Z</dcterms:created>
  <dcterms:modified xsi:type="dcterms:W3CDTF">2026-08-27T07:45:56Z</dcterms:modified>
  <cp:category/>
</cp:coreProperties>
</file>