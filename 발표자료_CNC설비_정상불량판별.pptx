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895D767-9EA1-4873-9337-5FE503F15B50}">
  <a:tblStyle styleId="{8895D767-9EA1-4873-9337-5FE503F15B5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35F54E4A-5455-4F09-9023-768CAB31304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88ef9cd7f_0_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f88ef9cd7f_0_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f88ef9cd7f_0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3f88ef9cd7f_0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f88ef9cd7f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g3f88ef9cd7f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f88ef9cd7f_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g3f88ef9cd7f_0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drive.google.com/file/d/1dRuUpqukf842_GMEPr4nB7FpX-tJVV9l/view?usp=drive_link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03C75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0" y="2286000"/>
            <a:ext cx="12191695" cy="73152"/>
          </a:xfrm>
          <a:prstGeom prst="rect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CNC 설비 정상 / 불량 판별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841248" y="1481328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7D6E8"/>
                </a:solidFill>
                <a:latin typeface="Malgun Gothic"/>
                <a:ea typeface="Malgun Gothic"/>
                <a:cs typeface="Malgun Gothic"/>
                <a:sym typeface="Malgun Gothic"/>
              </a:rPr>
              <a:t>UCI AI4I 2020 Predictive Maintenance 데이터 기반 이진분류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822960" y="2880360"/>
            <a:ext cx="10515600" cy="6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설비 센서값으로 고장 여부를 판별하는 미니 프로젝트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수집  →  탐색적 데이터 분석(EDA)  →  모델링 1차·2차·3차  →  데스크톱 UI</a:t>
            </a:r>
            <a:endParaRPr/>
          </a:p>
        </p:txBody>
      </p:sp>
      <p:sp>
        <p:nvSpPr>
          <p:cNvPr id="93" name="Google Shape;93;p13"/>
          <p:cNvSpPr/>
          <p:nvPr/>
        </p:nvSpPr>
        <p:spPr>
          <a:xfrm>
            <a:off x="822960" y="4572000"/>
            <a:ext cx="6949440" cy="640080"/>
          </a:xfrm>
          <a:prstGeom prst="roundRect">
            <a:avLst>
              <a:gd fmla="val 16667" name="adj"/>
            </a:avLst>
          </a:prstGeom>
          <a:solidFill>
            <a:srgbClr val="F2F4F7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8287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72B4D"/>
                </a:solidFill>
                <a:latin typeface="Malgun Gothic"/>
                <a:ea typeface="Malgun Gothic"/>
                <a:cs typeface="Malgun Gothic"/>
                <a:sym typeface="Malgun Gothic"/>
              </a:rPr>
              <a:t>GitHub  ·  https://github.com/hmy7788/python_data_analyze</a:t>
            </a:r>
            <a:endParaRPr/>
          </a:p>
        </p:txBody>
      </p:sp>
      <p:pic>
        <p:nvPicPr>
          <p:cNvPr descr="미니 프로젝트 흐름도.png" id="94" name="Google Shape;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0" y="3276600"/>
            <a:ext cx="3200400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CNC 설비 정상/불량 판별  ·  UCI AI4I 2020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3C75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640080" y="310896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C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TEAM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72B4D"/>
                </a:solidFill>
                <a:latin typeface="Malgun Gothic"/>
                <a:ea typeface="Malgun Gothic"/>
                <a:cs typeface="Malgun Gothic"/>
                <a:sym typeface="Malgun Gothic"/>
              </a:rPr>
              <a:t>팀 구성 &amp; 역할 분담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658368" y="1481328"/>
            <a:ext cx="10881360" cy="25400"/>
          </a:xfrm>
          <a:prstGeom prst="rect">
            <a:avLst/>
          </a:prstGeom>
          <a:solidFill>
            <a:srgbClr val="D8DEE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5" name="Google Shape;105;p14"/>
          <p:cNvGraphicFramePr/>
          <p:nvPr/>
        </p:nvGraphicFramePr>
        <p:xfrm>
          <a:off x="1280160" y="21031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{8895D767-9EA1-4873-9337-5FE503F15B50}</a:tableStyleId>
              </a:tblPr>
              <a:tblGrid>
                <a:gridCol w="2743200"/>
                <a:gridCol w="68580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이름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역할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172B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허민엽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크롤링 및 UI 설계 ①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최나연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크롤링 및 UI 설계 ②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이하연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분석 및 모델링 ①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최혁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분석 및 모델링 ②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106" name="Google Shape;106;p14"/>
          <p:cNvSpPr txBox="1"/>
          <p:nvPr/>
        </p:nvSpPr>
        <p:spPr>
          <a:xfrm>
            <a:off x="1280160" y="502920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4인 미니 프로젝트  ·  데이터팀(분석·모델링) + 애플리케이션팀(크롤링·UI)으로 분담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CNC 설비 정상/불량 판별  ·  UCI AI4I 2020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3C75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640080" y="310896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C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주제 1 · 데이터 수집  (1/3)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40080" y="658368"/>
            <a:ext cx="1097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72B4D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배경 </a:t>
            </a:r>
            <a:r>
              <a:rPr b="1" lang="en-US" sz="2700">
                <a:solidFill>
                  <a:srgbClr val="172B4D"/>
                </a:solidFill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r>
              <a:rPr b="1" i="0" lang="en-US" sz="2700" u="none" cap="none" strike="noStrike">
                <a:solidFill>
                  <a:srgbClr val="172B4D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예지보전과 AI4I 2020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658368" y="1481328"/>
            <a:ext cx="10881360" cy="25400"/>
          </a:xfrm>
          <a:prstGeom prst="rect">
            <a:avLst/>
          </a:prstGeom>
          <a:solidFill>
            <a:srgbClr val="D8DEE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685800" y="1737360"/>
            <a:ext cx="10972800" cy="45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 예지보전(Predictive Maintenance): </a:t>
            </a:r>
            <a:endParaRPr b="0" i="0" sz="1400" u="none" cap="none" strike="noStrike">
              <a:solidFill>
                <a:srgbClr val="1F2A37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400"/>
              <a:buFont typeface="Malgun Gothic"/>
              <a:buChar char="-"/>
            </a:pPr>
            <a:r>
              <a:rPr b="0" i="0" lang="en-US" sz="1400" u="none" cap="none" strike="noStrike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설비가 고장 나기 전에 센서 신호로 미리 잡아내는 것</a:t>
            </a:r>
            <a:endParaRPr b="0" i="0" sz="1400" u="none" cap="none" strike="noStrike">
              <a:solidFill>
                <a:srgbClr val="1F2A37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400"/>
              <a:buFont typeface="Malgun Gothic"/>
              <a:buChar char="-"/>
            </a:pPr>
            <a:r>
              <a:rPr lang="en-US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 생산 중단 감소 및 유지보수 비용 절감 효과</a:t>
            </a:r>
            <a:endParaRPr>
              <a:solidFill>
                <a:srgbClr val="1F2A37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2A37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 AI4I 2020 Predictive Maintenance Dataset — UCI Machine Learning Repository 공개</a:t>
            </a:r>
            <a:endParaRPr b="0" i="0" sz="1400" u="none" cap="none" strike="noStrike">
              <a:solidFill>
                <a:srgbClr val="1F2A37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5B6672"/>
              </a:buClr>
              <a:buSzPts val="1300"/>
              <a:buFont typeface="Malgun Gothic"/>
              <a:buChar char="-"/>
            </a:pPr>
            <a:r>
              <a:rPr b="0" i="0" lang="en-US" sz="1300" u="none" cap="none" strike="noStrike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밀링 머신 공정 데이터</a:t>
            </a:r>
            <a:endParaRPr b="0" i="0" sz="1300" u="none" cap="none" strike="noStrike">
              <a:solidFill>
                <a:srgbClr val="5B667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B667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 규모: 10,000행 × 14열,  결측치·중복행 없음, </a:t>
            </a:r>
            <a:r>
              <a:rPr lang="en-US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이진분류 ( 정상 / 불량 )</a:t>
            </a:r>
            <a:endParaRPr>
              <a:solidFill>
                <a:srgbClr val="1F2A37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2A37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 데이터 선정 이유</a:t>
            </a:r>
            <a:endParaRPr>
              <a:solidFill>
                <a:srgbClr val="1F2A37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1F2A37"/>
              </a:buClr>
              <a:buSzPts val="1400"/>
              <a:buFont typeface="Malgun Gothic"/>
              <a:buChar char="-"/>
            </a:pPr>
            <a:r>
              <a:rPr lang="en-US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PHM(Predictive Health Management) 개념을 실제 데이터에 적용하기 위해 선정</a:t>
            </a:r>
            <a:endParaRPr>
              <a:solidFill>
                <a:srgbClr val="1F2A37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A37"/>
              </a:buClr>
              <a:buSzPts val="1400"/>
              <a:buFont typeface="Malgun Gothic"/>
              <a:buChar char="-"/>
            </a:pPr>
            <a:r>
              <a:rPr lang="en-US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제조 설비에서 수집 가능한 </a:t>
            </a:r>
            <a:r>
              <a:rPr b="1" lang="en-US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온도, 회전속도, 토크, 공구 마모 등의 센서 데이터</a:t>
            </a:r>
            <a:r>
              <a:rPr lang="en-US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 포함하고 있어 예지보전 분석에 적합</a:t>
            </a:r>
            <a:endParaRPr>
              <a:solidFill>
                <a:srgbClr val="1F2A37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2A37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2A3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CNC 설비 정상/불량 판별  ·  UCI AI4I 2020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/>
          </a:p>
        </p:txBody>
      </p:sp>
      <p:pic>
        <p:nvPicPr>
          <p:cNvPr id="120" name="Google Shape;12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6400" y="2308885"/>
            <a:ext cx="3750799" cy="25054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3C75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640080" y="310896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C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주제 1 · 데이터 수집  (2/3)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72B4D"/>
                </a:solidFill>
                <a:latin typeface="Malgun Gothic"/>
                <a:ea typeface="Malgun Gothic"/>
                <a:cs typeface="Malgun Gothic"/>
                <a:sym typeface="Malgun Gothic"/>
              </a:rPr>
              <a:t>컬럼 구성 — 14개 열의 역할</a:t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658368" y="1481328"/>
            <a:ext cx="10881360" cy="25400"/>
          </a:xfrm>
          <a:prstGeom prst="rect">
            <a:avLst/>
          </a:prstGeom>
          <a:solidFill>
            <a:srgbClr val="D8DEE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9" name="Google Shape;129;p16"/>
          <p:cNvGraphicFramePr/>
          <p:nvPr/>
        </p:nvGraphicFramePr>
        <p:xfrm>
          <a:off x="685800" y="17373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{8895D767-9EA1-4873-9337-5FE503F15B50}</a:tableStyleId>
              </a:tblPr>
              <a:tblGrid>
                <a:gridCol w="3200400"/>
                <a:gridCol w="5120650"/>
                <a:gridCol w="2468875"/>
              </a:tblGrid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컬럼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설명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역할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172B4D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식별번호 (UDI, Product ID)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일련번호</a:t>
                      </a: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,</a:t>
                      </a:r>
                      <a:r>
                        <a:rPr b="0" lang="en-US" sz="105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제품 ID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식별자 → </a:t>
                      </a:r>
                      <a:r>
                        <a:rPr b="0" lang="en-US" sz="1050" u="none" cap="none" strike="noStrike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제거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품질 등급 (</a:t>
                      </a:r>
                      <a:r>
                        <a:rPr b="0" lang="en-US" sz="105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Type)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 저가 / M 중가 / H 고가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입력 (원핫 </a:t>
                      </a: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인코딩</a:t>
                      </a:r>
                      <a:r>
                        <a:rPr b="0" lang="en-US" sz="105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대기 온도 (</a:t>
                      </a:r>
                      <a:r>
                        <a:rPr b="0" lang="en-US" sz="105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Air / Process temperature [K])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작업장 실내 온도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입력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공정 </a:t>
                      </a: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온도</a:t>
                      </a: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(</a:t>
                      </a: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 temperature [K])</a:t>
                      </a:r>
                      <a:endParaRPr sz="1050">
                        <a:solidFill>
                          <a:srgbClr val="1F2A37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가공부 온도</a:t>
                      </a:r>
                      <a:endParaRPr b="0" sz="1050" u="none" cap="none" strike="noStrike">
                        <a:solidFill>
                          <a:srgbClr val="1F2A37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입력</a:t>
                      </a:r>
                      <a:endParaRPr b="0" sz="1050" u="none" cap="none" strike="noStrike">
                        <a:solidFill>
                          <a:srgbClr val="1F2A37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회전 속도 (</a:t>
                      </a:r>
                      <a:r>
                        <a:rPr b="0" lang="en-US" sz="105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Rotational speed [rpm])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회전 속도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입력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토크 (</a:t>
                      </a:r>
                      <a:r>
                        <a:rPr b="0" lang="en-US" sz="105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Torque [Nm])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회전</a:t>
                      </a: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력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입력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공구 누적 사용 시간 (</a:t>
                      </a:r>
                      <a:r>
                        <a:rPr b="0" lang="en-US" sz="105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Tool wear [min])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공구가 절삭에 사용된 누적 시간(분)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입력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고장 여부 (</a:t>
                      </a:r>
                      <a:r>
                        <a:rPr b="0" lang="en-US" sz="105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Machine failure)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 정상 / 1 불량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0000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★ 타겟</a:t>
                      </a:r>
                      <a:endParaRPr b="1">
                        <a:solidFill>
                          <a:srgbClr val="0000FF"/>
                        </a:solidFill>
                      </a:endParaRPr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</a:tr>
              <a:tr h="419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TWF / HDF / PWF / OSF / RNF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세부 고장 모드</a:t>
                      </a:r>
                      <a:endParaRPr b="0" sz="1050" u="none" cap="none" strike="noStrike">
                        <a:solidFill>
                          <a:srgbClr val="1F2A37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data 누수</a:t>
                      </a:r>
                      <a:r>
                        <a:rPr b="0" lang="en-US" sz="105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위험 → </a:t>
                      </a:r>
                      <a:r>
                        <a:rPr b="0" lang="en-US" sz="1050" u="none" cap="none" strike="noStrike">
                          <a:solidFill>
                            <a:srgbClr val="FF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제거</a:t>
                      </a:r>
                      <a:endParaRPr b="0" sz="1050" u="none" cap="none" strike="noStrike">
                        <a:solidFill>
                          <a:srgbClr val="FF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130" name="Google Shape;130;p16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CNC 설비 정상/불량 판별  ·  UCI AI4I 2020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10557900" y="4698675"/>
            <a:ext cx="1634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1654350" y="5853300"/>
            <a:ext cx="3225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타겟에서 파생된 값이라 train에 쓰면 data 누수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p16"/>
          <p:cNvCxnSpPr/>
          <p:nvPr/>
        </p:nvCxnSpPr>
        <p:spPr>
          <a:xfrm>
            <a:off x="1320975" y="5732550"/>
            <a:ext cx="0" cy="22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" name="Google Shape;135;p16"/>
          <p:cNvCxnSpPr>
            <a:endCxn id="133" idx="1"/>
          </p:cNvCxnSpPr>
          <p:nvPr/>
        </p:nvCxnSpPr>
        <p:spPr>
          <a:xfrm>
            <a:off x="1298250" y="5943000"/>
            <a:ext cx="356100" cy="8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7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3C75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640080" y="310896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C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주제 3 · EDA  (1/5)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72B4D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품질 &amp; 변수 분포</a:t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658368" y="1481328"/>
            <a:ext cx="10881360" cy="25400"/>
          </a:xfrm>
          <a:prstGeom prst="rect">
            <a:avLst/>
          </a:prstGeom>
          <a:solidFill>
            <a:srgbClr val="D8DEE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da_histograms.png" id="144" name="Google Shape;1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1775" y="1693175"/>
            <a:ext cx="9133824" cy="4566912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7455900" y="4159175"/>
            <a:ext cx="4389000" cy="18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 결측치 0 · 중복행 0 — 정제된 데이터셋</a:t>
            </a:r>
            <a:endParaRPr b="0" i="0" sz="1300" u="none" cap="none" strike="noStrike">
              <a:solidFill>
                <a:srgbClr val="1F2A37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1F2A37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 Air / Process temperature: 정규분포에 근접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 Rotational speed: 오른쪽 꼬리가 김 (고속 구간 일부)</a:t>
            </a:r>
            <a:endParaRPr sz="1300">
              <a:solidFill>
                <a:srgbClr val="1F2A37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 Torque: 전체적으로 정규분포</a:t>
            </a:r>
            <a:endParaRPr b="0" i="0" sz="1300" u="none" cap="none" strike="noStrike">
              <a:solidFill>
                <a:srgbClr val="1F2A37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 Tool wear: 0~253분, 비교적 균등 (</a:t>
            </a:r>
            <a:r>
              <a:rPr lang="en-US" sz="130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주기적 교체</a:t>
            </a:r>
            <a:r>
              <a:rPr b="0" i="0" lang="en-US" sz="1300" u="none" cap="none" strike="noStrike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CNC 설비 정상/불량 판별  ·  UCI AI4I 2020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8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3C75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640080" y="310896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C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주제 3 · EDA  (2/5)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72B4D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타겟 — 클래스 불균형 &amp; Type별 고장률</a:t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658368" y="1481328"/>
            <a:ext cx="10881360" cy="25400"/>
          </a:xfrm>
          <a:prstGeom prst="rect">
            <a:avLst/>
          </a:prstGeom>
          <a:solidFill>
            <a:srgbClr val="D8DEE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da_failure_dist.png" id="156" name="Google Shape;15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5440" y="1783080"/>
            <a:ext cx="3352800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822960" y="4315968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정상 9,661 (96.6%)  vs  불량 339 (3.39%)</a:t>
            </a:r>
            <a:endParaRPr/>
          </a:p>
        </p:txBody>
      </p:sp>
      <p:pic>
        <p:nvPicPr>
          <p:cNvPr descr="eda_failrate_by_type.png" id="158" name="Google Shape;15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92923" y="1783080"/>
            <a:ext cx="3370634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6309360" y="4315968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Type별 고장률 — L 3.92% &gt; M 2.77% &gt; H 2.09%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822960" y="4709160"/>
            <a:ext cx="10607100" cy="8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 극심한 불균형</a:t>
            </a:r>
            <a:r>
              <a:rPr lang="en-US" sz="130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:</a:t>
            </a:r>
            <a:r>
              <a:rPr b="0" i="0" lang="en-US" sz="1300" u="none" cap="none" strike="noStrike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 '전부 정상' 베이스라인 정확도 96.6% → accuracy는 지표로 무의미 </a:t>
            </a:r>
            <a:br>
              <a:rPr lang="en-US" sz="130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30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→ </a:t>
            </a:r>
            <a:r>
              <a:rPr lang="en-US" sz="130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불량(1) 클래스의 </a:t>
            </a:r>
            <a:r>
              <a:rPr b="1" lang="en-US" sz="130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정밀도, 재현율, F1</a:t>
            </a:r>
            <a:r>
              <a:rPr lang="en-US" sz="130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 중점적으로 봐야함</a:t>
            </a:r>
            <a:endParaRPr b="0" i="0" sz="1300" u="none" cap="none" strike="noStrike">
              <a:solidFill>
                <a:srgbClr val="1F2A37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 </a:t>
            </a:r>
            <a:r>
              <a:rPr lang="en-US" sz="130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저품질</a:t>
            </a:r>
            <a:r>
              <a:rPr b="0" i="0" lang="en-US" sz="1300" u="none" cap="none" strike="noStrike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(L)일수록 고장률↑ — 내구성·공차가 낮은 것으로 해석</a:t>
            </a:r>
            <a:endParaRPr b="0" i="0" sz="1300" u="none" cap="none" strike="noStrike">
              <a:solidFill>
                <a:srgbClr val="1F2A3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CNC 설비 정상/불량 판별  ·  UCI AI4I 2020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9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3C75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640080" y="310896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C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주제 3 · EDA  (4/5)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640080" y="658368"/>
            <a:ext cx="1097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72B4D"/>
                </a:solidFill>
                <a:latin typeface="Malgun Gothic"/>
                <a:ea typeface="Malgun Gothic"/>
                <a:cs typeface="Malgun Gothic"/>
                <a:sym typeface="Malgun Gothic"/>
              </a:rPr>
              <a:t>Feature간 </a:t>
            </a:r>
            <a:r>
              <a:rPr b="1" i="0" lang="en-US" sz="2700" u="none" cap="none" strike="noStrike">
                <a:solidFill>
                  <a:srgbClr val="172B4D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상관관계</a:t>
            </a:r>
            <a:endParaRPr/>
          </a:p>
        </p:txBody>
      </p:sp>
      <p:sp>
        <p:nvSpPr>
          <p:cNvPr id="170" name="Google Shape;170;p19"/>
          <p:cNvSpPr/>
          <p:nvPr/>
        </p:nvSpPr>
        <p:spPr>
          <a:xfrm>
            <a:off x="658368" y="1481328"/>
            <a:ext cx="10881360" cy="25400"/>
          </a:xfrm>
          <a:prstGeom prst="rect">
            <a:avLst/>
          </a:prstGeom>
          <a:solidFill>
            <a:srgbClr val="D8DEE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da_corr_heatmap.png" id="171" name="Google Shape;17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30" y="1821780"/>
            <a:ext cx="4907280" cy="420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5770825" y="2023150"/>
            <a:ext cx="5955900" cy="20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기온 ↔ 공정온도: +0.88 (강한 양의 상관</a:t>
            </a:r>
            <a:r>
              <a:rPr lang="en-US" sz="130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관계</a:t>
            </a:r>
            <a:r>
              <a:rPr b="0" i="0" lang="en-US" sz="1300" u="none" cap="none" strike="noStrike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br>
              <a:rPr lang="en-US" sz="130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30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회전속도 ↔ 토크: -0.88 (강한 음의 상관관계)</a:t>
            </a:r>
            <a:br>
              <a:rPr lang="en-US" sz="130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30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  → 다중 공선성 주의: 서로 겹치는 정보를 가진 변수 쌍</a:t>
            </a:r>
            <a:endParaRPr sz="1300">
              <a:solidFill>
                <a:srgbClr val="1F2A37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  → 선형모델에서 계수가 불안정해지고 어느 변수 몫인지 갈라지지 않음</a:t>
            </a:r>
            <a:endParaRPr sz="1300">
              <a:solidFill>
                <a:srgbClr val="1F2A37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Machine failure 상관</a:t>
            </a:r>
            <a:r>
              <a:rPr lang="en-US" sz="130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관계</a:t>
            </a:r>
            <a:br>
              <a:rPr lang="en-US" sz="130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30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  → </a:t>
            </a:r>
            <a:r>
              <a:rPr b="0" i="0" lang="en-US" sz="1300" u="none" cap="none" strike="noStrike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Torque 0.19 &gt; Tool wear 0.11 &gt; Air temp 0.08 &gt; .</a:t>
            </a:r>
            <a:r>
              <a:rPr lang="en-US" sz="130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 . .</a:t>
            </a:r>
            <a:br>
              <a:rPr lang="en-US"/>
            </a:br>
            <a:r>
              <a:rPr lang="en-US"/>
              <a:t>  </a:t>
            </a:r>
            <a:r>
              <a:rPr lang="en-US" sz="130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개별 변수로는 고장을 설명하는 힘이 약함</a:t>
            </a:r>
            <a:br>
              <a:rPr lang="en-US" sz="130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>
                <a:solidFill>
                  <a:schemeClr val="dk1"/>
                </a:solidFill>
              </a:rPr>
              <a:t>  </a:t>
            </a:r>
            <a:r>
              <a:rPr lang="en-US" sz="130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</a:t>
            </a:r>
            <a:r>
              <a:rPr b="1" lang="en-US" sz="130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파생피처가 필요</a:t>
            </a:r>
            <a:r>
              <a:rPr lang="en-US" sz="130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할듯함.</a:t>
            </a:r>
            <a:endParaRPr sz="1300">
              <a:solidFill>
                <a:srgbClr val="1F2A3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CNC 설비 정상/불량 판별  ·  UCI AI4I 2020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r>
            <a:endParaRPr/>
          </a:p>
        </p:txBody>
      </p:sp>
      <p:sp>
        <p:nvSpPr>
          <p:cNvPr id="175" name="Google Shape;175;p19"/>
          <p:cNvSpPr/>
          <p:nvPr/>
        </p:nvSpPr>
        <p:spPr>
          <a:xfrm>
            <a:off x="2483200" y="2073850"/>
            <a:ext cx="444900" cy="507900"/>
          </a:xfrm>
          <a:prstGeom prst="rect">
            <a:avLst/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3438550" y="2977825"/>
            <a:ext cx="444900" cy="451200"/>
          </a:xfrm>
          <a:prstGeom prst="rect">
            <a:avLst/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1975550" y="4298375"/>
            <a:ext cx="2407500" cy="507900"/>
          </a:xfrm>
          <a:prstGeom prst="rect">
            <a:avLst/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3C75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640080" y="310896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C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주제 3 · EDA  (5/5)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72B4D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고장 여부별 변수 분포 → 핵심 가설</a:t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658368" y="1481328"/>
            <a:ext cx="10881360" cy="25400"/>
          </a:xfrm>
          <a:prstGeom prst="rect">
            <a:avLst/>
          </a:prstGeom>
          <a:solidFill>
            <a:srgbClr val="D8DEE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da_boxplot_by_failure.png" id="186" name="Google Shape;18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5250" y="1684900"/>
            <a:ext cx="9392500" cy="469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7530825" y="4921476"/>
            <a:ext cx="4206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5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온도 자체(Air/Process)는 정상·불량 차이가 작음</a:t>
            </a:r>
            <a:endParaRPr sz="1250">
              <a:solidFill>
                <a:srgbClr val="1F2A37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고장(1) 시 </a:t>
            </a:r>
            <a:r>
              <a:rPr lang="en-US" sz="125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토크값 높고,</a:t>
            </a:r>
            <a:r>
              <a:rPr b="0" i="0" lang="en-US" sz="1250" u="none" cap="none" strike="noStrike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 회전속도 낮은 경향</a:t>
            </a:r>
            <a:endParaRPr sz="1250">
              <a:solidFill>
                <a:srgbClr val="1F2A37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5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Tool Wear은 고장일때 정상에 비해 높은 경향 </a:t>
            </a:r>
            <a:endParaRPr sz="1250">
              <a:solidFill>
                <a:srgbClr val="1F2A3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CNC 설비 정상/불량 판별  ·  UCI AI4I 2020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3C75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640080" y="310896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3C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주제 2 · 데이터 전처리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640080" y="658368"/>
            <a:ext cx="1097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72B4D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학습에 넣기까지 . . .</a:t>
            </a:r>
            <a:endParaRPr/>
          </a:p>
        </p:txBody>
      </p:sp>
      <p:sp>
        <p:nvSpPr>
          <p:cNvPr id="197" name="Google Shape;197;p21"/>
          <p:cNvSpPr/>
          <p:nvPr/>
        </p:nvSpPr>
        <p:spPr>
          <a:xfrm>
            <a:off x="658368" y="1481328"/>
            <a:ext cx="10881360" cy="25400"/>
          </a:xfrm>
          <a:prstGeom prst="rect">
            <a:avLst/>
          </a:prstGeom>
          <a:solidFill>
            <a:srgbClr val="D8DEE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6590925" y="2019775"/>
            <a:ext cx="4653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 train / test = 8 : 2,  stratify=y 로 정상/불량 비율 유지</a:t>
            </a:r>
            <a:endParaRPr b="0" sz="1350">
              <a:solidFill>
                <a:srgbClr val="1F2A3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CNC 설비 정상/불량 판별  ·  UCI AI4I 2020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/>
          </a:p>
        </p:txBody>
      </p:sp>
      <p:graphicFrame>
        <p:nvGraphicFramePr>
          <p:cNvPr id="201" name="Google Shape;201;p21"/>
          <p:cNvGraphicFramePr/>
          <p:nvPr/>
        </p:nvGraphicFramePr>
        <p:xfrm>
          <a:off x="6893850" y="2471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{35F54E4A-5455-4F09-9023-768CAB313040}</a:tableStyleId>
              </a:tblPr>
              <a:tblGrid>
                <a:gridCol w="1085075"/>
                <a:gridCol w="1009175"/>
                <a:gridCol w="1521425"/>
              </a:tblGrid>
              <a:tr h="167925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Train</a:t>
                      </a:r>
                      <a:br>
                        <a:rPr lang="en-US">
                          <a:solidFill>
                            <a:schemeClr val="lt1"/>
                          </a:solidFill>
                        </a:rPr>
                      </a:br>
                      <a:r>
                        <a:rPr lang="en-US">
                          <a:solidFill>
                            <a:schemeClr val="lt1"/>
                          </a:solidFill>
                        </a:rPr>
                        <a:t>(9661)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정상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7688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1703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불량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1973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167925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Test</a:t>
                      </a:r>
                      <a:br>
                        <a:rPr lang="en-US">
                          <a:solidFill>
                            <a:schemeClr val="lt1"/>
                          </a:solidFill>
                        </a:rPr>
                      </a:br>
                      <a:r>
                        <a:rPr lang="en-US">
                          <a:solidFill>
                            <a:schemeClr val="lt1"/>
                          </a:solidFill>
                        </a:rPr>
                        <a:t>(339)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정상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271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1703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불량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68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02" name="Google Shape;202;p21"/>
          <p:cNvSpPr txBox="1"/>
          <p:nvPr/>
        </p:nvSpPr>
        <p:spPr>
          <a:xfrm>
            <a:off x="732350" y="1919725"/>
            <a:ext cx="46533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</a:t>
            </a:r>
            <a:r>
              <a:rPr lang="en-US" sz="135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다중공성선이 높음 </a:t>
            </a:r>
            <a:r>
              <a:rPr lang="en-US" sz="130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선형모델 대신 </a:t>
            </a:r>
            <a:r>
              <a:rPr b="1" lang="en-US" sz="130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트리 모델</a:t>
            </a:r>
            <a:r>
              <a:rPr lang="en-US" sz="130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 실험</a:t>
            </a:r>
            <a:endParaRPr sz="1300">
              <a:solidFill>
                <a:srgbClr val="1F2A37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  - RandomForest, XGBoost, lightGBM 3가지 모델로 실험!</a:t>
            </a:r>
            <a:endParaRPr sz="1300">
              <a:solidFill>
                <a:srgbClr val="1F2A3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203" name="Google Shape;203;p21"/>
          <p:cNvGraphicFramePr/>
          <p:nvPr/>
        </p:nvGraphicFramePr>
        <p:xfrm>
          <a:off x="732350" y="2577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{35F54E4A-5455-4F09-9023-768CAB313040}</a:tableStyleId>
              </a:tblPr>
              <a:tblGrid>
                <a:gridCol w="2399825"/>
                <a:gridCol w="2736675"/>
              </a:tblGrid>
              <a:tr h="330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</a:rPr>
                        <a:t>선형모델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</a:rPr>
                        <a:t>트리모델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172B4D"/>
                    </a:solidFill>
                  </a:tcPr>
                </a:tc>
              </a:tr>
              <a:tr h="330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변수 간 관계를 직선 형태로 학습 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변수 간 복잡한 </a:t>
                      </a:r>
                      <a:r>
                        <a:rPr b="1" lang="en-US" sz="1200"/>
                        <a:t>비선형</a:t>
                      </a:r>
                      <a:r>
                        <a:rPr lang="en-US" sz="1200"/>
                        <a:t> 관계 학습 </a:t>
                      </a:r>
                      <a:endParaRPr sz="1200"/>
                    </a:p>
                  </a:txBody>
                  <a:tcPr marT="91425" marB="91425" marR="91425" marL="91425" anchor="ctr"/>
                </a:tc>
              </a:tr>
              <a:tr h="330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변수 간 상관성 영향이 큼 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상관성 영향이 비교적 적음 </a:t>
                      </a:r>
                      <a:endParaRPr sz="1200"/>
                    </a:p>
                  </a:txBody>
                  <a:tcPr marT="91425" marB="91425" marR="91425" marL="91425" anchor="ctr"/>
                </a:tc>
              </a:tr>
              <a:tr h="330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해석이 쉬움 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복잡한 패턴 학습에 유리</a:t>
                      </a: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aphicFrame>
        <p:nvGraphicFramePr>
          <p:cNvPr id="204" name="Google Shape;204;p21"/>
          <p:cNvGraphicFramePr/>
          <p:nvPr/>
        </p:nvGraphicFramePr>
        <p:xfrm>
          <a:off x="732350" y="443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{35F54E4A-5455-4F09-9023-768CAB313040}</a:tableStyleId>
              </a:tblPr>
              <a:tblGrid>
                <a:gridCol w="1331025"/>
                <a:gridCol w="4251250"/>
              </a:tblGrid>
              <a:tr h="330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</a:rPr>
                        <a:t>모델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lt1"/>
                          </a:solidFill>
                        </a:rPr>
                        <a:t>특징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172B4D"/>
                    </a:solidFill>
                  </a:tcPr>
                </a:tc>
              </a:tr>
              <a:tr h="330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Random Forest 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안정적, 과적합에 강함</a:t>
                      </a:r>
                      <a:endParaRPr sz="1200"/>
                    </a:p>
                  </a:txBody>
                  <a:tcPr marT="91425" marB="91425" marR="91425" marL="91425" anchor="ctr"/>
                </a:tc>
              </a:tr>
              <a:tr h="330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XGBoost 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이전 모델의 오차를 계속 보완하면서 학습, 학습 시간 김 </a:t>
                      </a:r>
                      <a:endParaRPr sz="1200"/>
                    </a:p>
                  </a:txBody>
                  <a:tcPr marT="91425" marB="91425" marR="91425" marL="91425" anchor="ctr"/>
                </a:tc>
              </a:tr>
              <a:tr h="330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LightGBM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학습 속도가 빠르고 성능도 우수 , 데이터 적을시 과적합 가능</a:t>
                      </a:r>
                      <a:endParaRPr sz="12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3C75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 txBox="1"/>
          <p:nvPr/>
        </p:nvSpPr>
        <p:spPr>
          <a:xfrm>
            <a:off x="640080" y="310896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3C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주제 3 · 모델링  (1/3)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72B4D"/>
                </a:solidFill>
                <a:latin typeface="Malgun Gothic"/>
                <a:ea typeface="Malgun Gothic"/>
                <a:cs typeface="Malgun Gothic"/>
                <a:sym typeface="Malgun Gothic"/>
              </a:rPr>
              <a:t>1차 — Baseline  (model_1.ipynb)</a:t>
            </a:r>
            <a:endParaRPr/>
          </a:p>
        </p:txBody>
      </p:sp>
      <p:sp>
        <p:nvSpPr>
          <p:cNvPr id="212" name="Google Shape;212;p22"/>
          <p:cNvSpPr/>
          <p:nvPr/>
        </p:nvSpPr>
        <p:spPr>
          <a:xfrm>
            <a:off x="658368" y="1481328"/>
            <a:ext cx="10881360" cy="25400"/>
          </a:xfrm>
          <a:prstGeom prst="rect">
            <a:avLst/>
          </a:prstGeom>
          <a:solidFill>
            <a:srgbClr val="D8DEE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 txBox="1"/>
          <p:nvPr/>
        </p:nvSpPr>
        <p:spPr>
          <a:xfrm>
            <a:off x="685800" y="1737360"/>
            <a:ext cx="10972800" cy="5822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 원본 변수만 </a:t>
            </a:r>
            <a:r>
              <a:rPr lang="en-US" sz="130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+</a:t>
            </a:r>
            <a:r>
              <a:rPr lang="en-US" sz="130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0" lang="en-US" sz="130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파생변수 없음</a:t>
            </a:r>
            <a:endParaRPr b="0" sz="1300">
              <a:solidFill>
                <a:srgbClr val="1F2A37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 모델 3종 단순 비교: RandomForest</a:t>
            </a:r>
            <a:r>
              <a:rPr lang="en-US" sz="130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,</a:t>
            </a:r>
            <a:r>
              <a:rPr b="0" lang="en-US" sz="130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 XGBoost</a:t>
            </a:r>
            <a:r>
              <a:rPr lang="en-US" sz="130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b="0" lang="en-US" sz="130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LightGBM</a:t>
            </a:r>
            <a:endParaRPr b="0" sz="1300">
              <a:solidFill>
                <a:srgbClr val="1F2A3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214" name="Google Shape;214;p22"/>
          <p:cNvGraphicFramePr/>
          <p:nvPr/>
        </p:nvGraphicFramePr>
        <p:xfrm>
          <a:off x="822960" y="2971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{8895D767-9EA1-4873-9337-5FE503F15B50}</a:tableStyleId>
              </a:tblPr>
              <a:tblGrid>
                <a:gridCol w="4297675"/>
                <a:gridCol w="1554475"/>
                <a:gridCol w="1554475"/>
                <a:gridCol w="1554475"/>
                <a:gridCol w="155447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모델</a:t>
                      </a:r>
                      <a:endParaRPr sz="1300"/>
                    </a:p>
                  </a:txBody>
                  <a:tcPr marT="18300" marB="18300" marR="73150" marL="73150" anchor="ctr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정확도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정밀도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재현율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F1-score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172B4D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Random Forest</a:t>
                      </a:r>
                      <a:endParaRPr b="0" sz="1200" u="none" cap="none" strike="noStrike">
                        <a:solidFill>
                          <a:srgbClr val="1F2A37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0.942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0.35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0.85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0.50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XGBoost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0.984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0.91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0.59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0.71</a:t>
                      </a:r>
                      <a:endParaRPr/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LightGBM</a:t>
                      </a:r>
                      <a:endParaRPr b="1"/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0.985</a:t>
                      </a:r>
                      <a:endParaRPr b="1"/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0.89</a:t>
                      </a:r>
                      <a:endParaRPr b="1"/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0.62</a:t>
                      </a:r>
                      <a:endParaRPr b="1"/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0.73</a:t>
                      </a:r>
                      <a:endParaRPr b="1"/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5" name="Google Shape;215;p22"/>
          <p:cNvSpPr txBox="1"/>
          <p:nvPr/>
        </p:nvSpPr>
        <p:spPr>
          <a:xfrm>
            <a:off x="822960" y="4709160"/>
            <a:ext cx="10607100" cy="10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F2A37"/>
                </a:solidFill>
              </a:rPr>
              <a:t>•  RF는 재현율 0.85로 높지만 정밀도 0.35 (정상을 불량으로 오탐 99건)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F2A37"/>
                </a:solidFill>
              </a:rPr>
              <a:t>•  XGBoost/LightGBM은 정밀도 0.9대지만 재현율 0.6 전후</a:t>
            </a:r>
            <a:r>
              <a:rPr lang="en-US" sz="1250">
                <a:solidFill>
                  <a:srgbClr val="1F2A37"/>
                </a:solidFill>
              </a:rPr>
              <a:t> - </a:t>
            </a:r>
            <a:r>
              <a:rPr lang="en-US" sz="1250">
                <a:solidFill>
                  <a:srgbClr val="1F2A37"/>
                </a:solidFill>
              </a:rPr>
              <a:t>실제 불량의 약 40%를 놓침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F2A37"/>
                </a:solidFill>
              </a:rPr>
              <a:t>   </a:t>
            </a:r>
            <a:r>
              <a:rPr lang="en-US" sz="1250">
                <a:solidFill>
                  <a:srgbClr val="1F2A37"/>
                </a:solidFill>
              </a:rPr>
              <a:t>→ 원본 변수만으로는 정밀도와 재현율을 동시에 잡는 모델이 없</a:t>
            </a:r>
            <a:r>
              <a:rPr lang="en-US" sz="1250">
                <a:solidFill>
                  <a:srgbClr val="1F2A37"/>
                </a:solidFill>
              </a:rPr>
              <a:t>음</a:t>
            </a:r>
            <a:r>
              <a:rPr lang="en-US" sz="1250">
                <a:solidFill>
                  <a:srgbClr val="1F2A37"/>
                </a:solidFill>
              </a:rPr>
              <a:t>  → 2차로</a:t>
            </a:r>
            <a:endParaRPr sz="1250">
              <a:solidFill>
                <a:srgbClr val="1F2A3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F2A37"/>
                </a:solidFill>
              </a:rPr>
              <a:t>• F1-Score 기준 lightGBM이 가장 우수</a:t>
            </a:r>
            <a:endParaRPr sz="1250">
              <a:solidFill>
                <a:srgbClr val="1F2A37"/>
              </a:solidFill>
            </a:endParaRPr>
          </a:p>
        </p:txBody>
      </p:sp>
      <p:sp>
        <p:nvSpPr>
          <p:cNvPr id="216" name="Google Shape;216;p22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CNC 설비 정상/불량 판별  ·  UCI AI4I 2020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12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3C75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3"/>
          <p:cNvSpPr txBox="1"/>
          <p:nvPr/>
        </p:nvSpPr>
        <p:spPr>
          <a:xfrm>
            <a:off x="640080" y="310896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3C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주제 3 · 모델링  (2/3)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72B4D"/>
                </a:solidFill>
                <a:latin typeface="Malgun Gothic"/>
                <a:ea typeface="Malgun Gothic"/>
                <a:cs typeface="Malgun Gothic"/>
                <a:sym typeface="Malgun Gothic"/>
              </a:rPr>
              <a:t>2차 — 파생 피처 7개 + 하이퍼파라미터 튜닝  (model_2.ipynb)</a:t>
            </a:r>
            <a:endParaRPr/>
          </a:p>
        </p:txBody>
      </p:sp>
      <p:sp>
        <p:nvSpPr>
          <p:cNvPr id="226" name="Google Shape;226;p23"/>
          <p:cNvSpPr/>
          <p:nvPr/>
        </p:nvSpPr>
        <p:spPr>
          <a:xfrm>
            <a:off x="658368" y="1481328"/>
            <a:ext cx="10881360" cy="25400"/>
          </a:xfrm>
          <a:prstGeom prst="rect">
            <a:avLst/>
          </a:prstGeom>
          <a:solidFill>
            <a:srgbClr val="D8DEE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 txBox="1"/>
          <p:nvPr/>
        </p:nvSpPr>
        <p:spPr>
          <a:xfrm>
            <a:off x="683657" y="1669500"/>
            <a:ext cx="4874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센서값을 파생 피처 생성</a:t>
            </a:r>
            <a:endParaRPr b="1" sz="1500">
              <a:solidFill>
                <a:srgbClr val="1F2A3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228" name="Google Shape;228;p23"/>
          <p:cNvGraphicFramePr/>
          <p:nvPr/>
        </p:nvGraphicFramePr>
        <p:xfrm>
          <a:off x="803191" y="20716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{8895D767-9EA1-4873-9337-5FE503F15B50}</a:tableStyleId>
              </a:tblPr>
              <a:tblGrid>
                <a:gridCol w="1312775"/>
                <a:gridCol w="2971925"/>
                <a:gridCol w="1877850"/>
              </a:tblGrid>
              <a:tr h="432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파생 피처</a:t>
                      </a:r>
                      <a:endParaRPr sz="1600"/>
                    </a:p>
                  </a:txBody>
                  <a:tcPr marT="18300" marB="18300" marR="73150" marL="73150" anchor="ctr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내용</a:t>
                      </a:r>
                      <a:endParaRPr b="1" sz="1200" u="none" cap="none" strike="noStrike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8300" marB="18300" marR="73150" marL="73150" anchor="ctr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계산식</a:t>
                      </a:r>
                      <a:endParaRPr sz="1600"/>
                    </a:p>
                  </a:txBody>
                  <a:tcPr marT="18300" marB="18300" marR="73150" marL="73150" anchor="ctr">
                    <a:solidFill>
                      <a:srgbClr val="172B4D"/>
                    </a:solidFill>
                  </a:tcPr>
                </a:tc>
              </a:tr>
              <a:tr h="551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Power</a:t>
                      </a:r>
                      <a:endParaRPr sz="1600"/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회전속도와 토크를 결합하여 </a:t>
                      </a:r>
                      <a:endParaRPr sz="1200">
                        <a:solidFill>
                          <a:srgbClr val="1F2A37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실제 설비 부하를 표현 </a:t>
                      </a:r>
                      <a:endParaRPr b="0" sz="1200" u="none" cap="none" strike="noStrike">
                        <a:solidFill>
                          <a:srgbClr val="1F2A37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회전속도 × 토크</a:t>
                      </a:r>
                      <a:endParaRPr b="0" sz="1200" u="none" cap="none" strike="noStrike">
                        <a:solidFill>
                          <a:srgbClr val="1F2A37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</a:tr>
              <a:tr h="432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Temp_diff</a:t>
                      </a:r>
                      <a:endParaRPr sz="1600"/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가공 과정에서 발생하는 열 증가량 표현 </a:t>
                      </a:r>
                      <a:endParaRPr b="0" sz="1200" u="none" cap="none" strike="noStrike">
                        <a:solidFill>
                          <a:srgbClr val="1F2A37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공정온도 − 기온</a:t>
                      </a:r>
                      <a:endParaRPr b="0" sz="1200" u="none" cap="none" strike="noStrike">
                        <a:solidFill>
                          <a:srgbClr val="1F2A37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</a:tr>
              <a:tr h="432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Power_wear</a:t>
                      </a:r>
                      <a:endParaRPr sz="1600"/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높은 부하와 공구 마모를 함께 반영 </a:t>
                      </a:r>
                      <a:endParaRPr b="0" sz="1200" u="none" cap="none" strike="noStrike">
                        <a:solidFill>
                          <a:srgbClr val="1F2A37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Power × 공구마모</a:t>
                      </a:r>
                      <a:endParaRPr b="0" sz="1200" u="none" cap="none" strike="noStrike">
                        <a:solidFill>
                          <a:srgbClr val="1F2A37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</a:tr>
              <a:tr h="551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Torque_per_RPM</a:t>
                      </a:r>
                      <a:endParaRPr sz="1600"/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회전속도 대비 토크 비율을 통해 </a:t>
                      </a:r>
                      <a:endParaRPr sz="1200">
                        <a:solidFill>
                          <a:srgbClr val="1F2A37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부하 상태 표현 </a:t>
                      </a:r>
                      <a:endParaRPr b="0" sz="1200" u="none" cap="none" strike="noStrike">
                        <a:solidFill>
                          <a:srgbClr val="1F2A37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토크 ÷ (회전속도 + 1)</a:t>
                      </a:r>
                      <a:endParaRPr sz="1600"/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</a:tr>
              <a:tr h="432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Torque_wear</a:t>
                      </a:r>
                      <a:endParaRPr sz="1600"/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공구 마모에 따른 토크 증가 특성 반영 </a:t>
                      </a:r>
                      <a:endParaRPr b="0" sz="1200" u="none" cap="none" strike="noStrike">
                        <a:solidFill>
                          <a:srgbClr val="1F2A37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토크 × 공구마모</a:t>
                      </a:r>
                      <a:endParaRPr sz="1600"/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</a:tr>
              <a:tr h="551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Temp_Torque</a:t>
                      </a:r>
                      <a:endParaRPr sz="1600"/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열과 부하를 동시에 고려하여 </a:t>
                      </a:r>
                      <a:endParaRPr sz="1200">
                        <a:solidFill>
                          <a:srgbClr val="1F2A37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이상 상태 표현 </a:t>
                      </a:r>
                      <a:endParaRPr b="0" sz="1200" u="none" cap="none" strike="noStrike">
                        <a:solidFill>
                          <a:srgbClr val="1F2A37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Temp_diff × 토크</a:t>
                      </a:r>
                      <a:endParaRPr sz="1600"/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</a:tr>
              <a:tr h="432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Temp_ratio</a:t>
                      </a:r>
                      <a:endParaRPr sz="1600"/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외기 대비 공정 온도 상승 비율 표현 </a:t>
                      </a:r>
                      <a:endParaRPr b="0" sz="1200" u="none" cap="none" strike="noStrike">
                        <a:solidFill>
                          <a:srgbClr val="1F2A37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공정온도 ÷ 기온</a:t>
                      </a:r>
                      <a:endParaRPr b="0" sz="1200" u="none" cap="none" strike="noStrike">
                        <a:solidFill>
                          <a:srgbClr val="1F2A37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9" name="Google Shape;229;p23"/>
          <p:cNvSpPr txBox="1"/>
          <p:nvPr/>
        </p:nvSpPr>
        <p:spPr>
          <a:xfrm>
            <a:off x="7132200" y="1627632"/>
            <a:ext cx="4023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RandomForest 튜닝</a:t>
            </a:r>
            <a:endParaRPr sz="1700"/>
          </a:p>
        </p:txBody>
      </p:sp>
      <p:sp>
        <p:nvSpPr>
          <p:cNvPr id="230" name="Google Shape;230;p23"/>
          <p:cNvSpPr txBox="1"/>
          <p:nvPr/>
        </p:nvSpPr>
        <p:spPr>
          <a:xfrm>
            <a:off x="7132200" y="2067850"/>
            <a:ext cx="4755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 RandomizedSearchCV</a:t>
            </a:r>
            <a:endParaRPr b="0" sz="1300">
              <a:solidFill>
                <a:srgbClr val="1F2A37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- </a:t>
            </a:r>
            <a:r>
              <a:rPr lang="en-US" sz="130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Hyperparameter</a:t>
            </a:r>
            <a:r>
              <a:rPr lang="en-US" sz="130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 후보 중 일부만 무작위로 뽑아서 서칭</a:t>
            </a:r>
            <a:endParaRPr b="0" sz="1300">
              <a:solidFill>
                <a:srgbClr val="1F2A37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 최적 파라미터</a:t>
            </a:r>
            <a:endParaRPr b="0" sz="1300">
              <a:solidFill>
                <a:srgbClr val="1F2A37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 n_estimators=300, max_depth=None,</a:t>
            </a:r>
            <a:endParaRPr sz="1600"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 min_samples_leaf=2, max_features=log2,</a:t>
            </a:r>
            <a:endParaRPr sz="1600"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 class_weight={0:1, 1:8}</a:t>
            </a:r>
            <a:endParaRPr sz="16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 CV 재현율(best) 0.995</a:t>
            </a:r>
            <a:endParaRPr sz="1600"/>
          </a:p>
        </p:txBody>
      </p:sp>
      <p:sp>
        <p:nvSpPr>
          <p:cNvPr id="231" name="Google Shape;231;p23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CNC 설비 정상/불량 판별  ·  UCI AI4I 2020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13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3C75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4"/>
          <p:cNvSpPr txBox="1"/>
          <p:nvPr/>
        </p:nvSpPr>
        <p:spPr>
          <a:xfrm>
            <a:off x="640080" y="310896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3C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주제 3 · 모델링  (2/3)</a:t>
            </a:r>
            <a:endParaRPr/>
          </a:p>
        </p:txBody>
      </p:sp>
      <p:sp>
        <p:nvSpPr>
          <p:cNvPr id="239" name="Google Shape;239;p24"/>
          <p:cNvSpPr txBox="1"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72B4D"/>
                </a:solidFill>
                <a:latin typeface="Malgun Gothic"/>
                <a:ea typeface="Malgun Gothic"/>
                <a:cs typeface="Malgun Gothic"/>
                <a:sym typeface="Malgun Gothic"/>
              </a:rPr>
              <a:t>2차 — 파생 피처 7개 + 하이퍼파라미터 튜닝  (model_2.ipynb)</a:t>
            </a:r>
            <a:endParaRPr/>
          </a:p>
        </p:txBody>
      </p:sp>
      <p:sp>
        <p:nvSpPr>
          <p:cNvPr id="240" name="Google Shape;240;p24"/>
          <p:cNvSpPr/>
          <p:nvPr/>
        </p:nvSpPr>
        <p:spPr>
          <a:xfrm>
            <a:off x="658368" y="1481328"/>
            <a:ext cx="10881360" cy="25400"/>
          </a:xfrm>
          <a:prstGeom prst="rect">
            <a:avLst/>
          </a:prstGeom>
          <a:solidFill>
            <a:srgbClr val="D8DEE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1" name="Google Shape;241;p24"/>
          <p:cNvGraphicFramePr/>
          <p:nvPr/>
        </p:nvGraphicFramePr>
        <p:xfrm>
          <a:off x="685800" y="17373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{8895D767-9EA1-4873-9337-5FE503F15B50}</a:tableStyleId>
              </a:tblPr>
              <a:tblGrid>
                <a:gridCol w="3064500"/>
                <a:gridCol w="1655450"/>
                <a:gridCol w="2147575"/>
                <a:gridCol w="1877700"/>
                <a:gridCol w="1861825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모델 (</a:t>
                      </a:r>
                      <a:r>
                        <a:rPr lang="en-US" sz="125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파생 피처 + 하이퍼파라미터 튜닝)</a:t>
                      </a:r>
                      <a:endParaRPr b="1" sz="1250" u="none" cap="none" strike="noStrike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8300" marB="18300" marR="73150" marL="73150" anchor="ctr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정확도</a:t>
                      </a:r>
                      <a:endParaRPr sz="1500"/>
                    </a:p>
                  </a:txBody>
                  <a:tcPr marT="18300" marB="18300" marR="73150" marL="73150" anchor="ctr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정밀도</a:t>
                      </a:r>
                      <a:endParaRPr sz="1500"/>
                    </a:p>
                  </a:txBody>
                  <a:tcPr marT="18300" marB="18300" marR="73150" marL="73150" anchor="ctr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재현율</a:t>
                      </a:r>
                      <a:endParaRPr sz="1500"/>
                    </a:p>
                  </a:txBody>
                  <a:tcPr marT="18300" marB="18300" marR="73150" marL="73150" anchor="ctr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F1-score</a:t>
                      </a:r>
                      <a:endParaRPr sz="1500"/>
                    </a:p>
                  </a:txBody>
                  <a:tcPr marT="18300" marB="18300" marR="73150" marL="73150" anchor="ctr">
                    <a:solidFill>
                      <a:srgbClr val="172B4D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Random Forest</a:t>
                      </a:r>
                      <a:endParaRPr sz="1500"/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0.88</a:t>
                      </a:r>
                      <a:endParaRPr b="0" sz="1250" u="none" cap="none" strike="noStrike">
                        <a:solidFill>
                          <a:srgbClr val="1F2A37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0.22</a:t>
                      </a:r>
                      <a:endParaRPr b="0" sz="1250" u="none" cap="none" strike="noStrike">
                        <a:solidFill>
                          <a:srgbClr val="1F2A37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0.95</a:t>
                      </a:r>
                      <a:endParaRPr b="0" sz="1250" u="none" cap="none" strike="noStrike">
                        <a:solidFill>
                          <a:srgbClr val="1F2A37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0.35</a:t>
                      </a:r>
                      <a:endParaRPr sz="1250" u="none" cap="none" strike="noStrike">
                        <a:solidFill>
                          <a:srgbClr val="1F2A37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XGBoost</a:t>
                      </a:r>
                      <a:endParaRPr b="0" sz="1250" u="none" cap="none" strike="noStrike">
                        <a:solidFill>
                          <a:srgbClr val="1F2A37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0.98</a:t>
                      </a:r>
                      <a:endParaRPr b="0" sz="1250" u="none" cap="none" strike="noStrike">
                        <a:solidFill>
                          <a:srgbClr val="1F2A37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0.57</a:t>
                      </a:r>
                      <a:endParaRPr b="0" sz="1250" u="none" cap="none" strike="noStrike">
                        <a:solidFill>
                          <a:srgbClr val="1F2A37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0.82</a:t>
                      </a:r>
                      <a:endParaRPr b="0" sz="1250" u="none" cap="none" strike="noStrike">
                        <a:solidFill>
                          <a:srgbClr val="1F2A37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0.67</a:t>
                      </a:r>
                      <a:endParaRPr sz="1250" u="none" cap="none" strike="noStrike">
                        <a:solidFill>
                          <a:srgbClr val="1F2A37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lightGBM</a:t>
                      </a:r>
                      <a:endParaRPr b="1" sz="1250" u="none" cap="none" strike="noStrike">
                        <a:solidFill>
                          <a:srgbClr val="1F2A37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0.98</a:t>
                      </a:r>
                      <a:endParaRPr b="1" sz="1250" u="none" cap="none" strike="noStrike">
                        <a:solidFill>
                          <a:srgbClr val="1F2A37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0.61</a:t>
                      </a:r>
                      <a:endParaRPr b="1" sz="1250" u="none" cap="none" strike="noStrike">
                        <a:solidFill>
                          <a:srgbClr val="1F2A37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0.79</a:t>
                      </a:r>
                      <a:endParaRPr b="1" sz="1250" u="none" cap="none" strike="noStrike">
                        <a:solidFill>
                          <a:srgbClr val="1F2A37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0.69</a:t>
                      </a:r>
                      <a:endParaRPr b="1" sz="1250" u="none" cap="none" strike="noStrike">
                        <a:solidFill>
                          <a:srgbClr val="1F2A37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242" name="Google Shape;242;p24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CNC 설비 정상/불량 판별  ·  UCI AI4I 2020</a:t>
            </a:r>
            <a:endParaRPr/>
          </a:p>
        </p:txBody>
      </p:sp>
      <p:sp>
        <p:nvSpPr>
          <p:cNvPr id="243" name="Google Shape;243;p24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13</a:t>
            </a:r>
            <a:endParaRPr/>
          </a:p>
        </p:txBody>
      </p:sp>
      <p:sp>
        <p:nvSpPr>
          <p:cNvPr id="244" name="Google Shape;244;p24"/>
          <p:cNvSpPr txBox="1"/>
          <p:nvPr/>
        </p:nvSpPr>
        <p:spPr>
          <a:xfrm>
            <a:off x="792480" y="3429000"/>
            <a:ext cx="8951100" cy="14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성능 분석</a:t>
            </a:r>
            <a:endParaRPr sz="15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en-US" sz="1500">
                <a:solidFill>
                  <a:srgbClr val="1F2A37"/>
                </a:solidFill>
              </a:rPr>
              <a:t>• </a:t>
            </a:r>
            <a:r>
              <a:rPr b="1" i="0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r>
              <a:rPr b="0" i="0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는 1차에 비해 F1이 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0.2 감소</a:t>
            </a:r>
            <a:endParaRPr b="0" i="0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F2A37"/>
                </a:solidFill>
              </a:rPr>
              <a:t>• </a:t>
            </a:r>
            <a:r>
              <a:rPr b="1" i="0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XGBoost, lightGBM</a:t>
            </a:r>
            <a:r>
              <a:rPr b="0" i="0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은 1차에 비해 F1이 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0.04 감소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F2A37"/>
                </a:solidFill>
              </a:rPr>
              <a:t>• 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F1-Score 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기준 lightGBM이 가장 우수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4"/>
          <p:cNvSpPr txBox="1"/>
          <p:nvPr/>
        </p:nvSpPr>
        <p:spPr>
          <a:xfrm>
            <a:off x="792473" y="5056662"/>
            <a:ext cx="120138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모델들의 전체적인 분석</a:t>
            </a: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en-US" sz="1250">
                <a:solidFill>
                  <a:srgbClr val="1F2A37"/>
                </a:solidFill>
              </a:rPr>
              <a:t>• 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3개의 모델 모두 </a:t>
            </a:r>
            <a:r>
              <a:rPr i="0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피처 엔지니어링 및 하이퍼파라미터 서칭이 큰 효과가 없었고 오히려 오버피팅으로 인해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0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F1-Score가 떨어진것으로 판단됨</a:t>
            </a:r>
            <a:endParaRPr i="0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3C75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5"/>
          <p:cNvSpPr txBox="1"/>
          <p:nvPr/>
        </p:nvSpPr>
        <p:spPr>
          <a:xfrm>
            <a:off x="640080" y="310896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3C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주제 3 · 모델링  (3/3)</a:t>
            </a:r>
            <a:endParaRPr/>
          </a:p>
        </p:txBody>
      </p:sp>
      <p:sp>
        <p:nvSpPr>
          <p:cNvPr id="252" name="Google Shape;252;p25"/>
          <p:cNvSpPr txBox="1"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72B4D"/>
                </a:solidFill>
                <a:latin typeface="Malgun Gothic"/>
                <a:ea typeface="Malgun Gothic"/>
                <a:cs typeface="Malgun Gothic"/>
                <a:sym typeface="Malgun Gothic"/>
              </a:rPr>
              <a:t>3차 — 위험구간(risk_zone) 피처  (model_3.ipynb, 최종)</a:t>
            </a:r>
            <a:endParaRPr/>
          </a:p>
        </p:txBody>
      </p:sp>
      <p:sp>
        <p:nvSpPr>
          <p:cNvPr id="253" name="Google Shape;253;p25"/>
          <p:cNvSpPr/>
          <p:nvPr/>
        </p:nvSpPr>
        <p:spPr>
          <a:xfrm>
            <a:off x="658368" y="1481328"/>
            <a:ext cx="10881360" cy="25400"/>
          </a:xfrm>
          <a:prstGeom prst="rect">
            <a:avLst/>
          </a:prstGeom>
          <a:solidFill>
            <a:srgbClr val="D8DEE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5"/>
          <p:cNvSpPr txBox="1"/>
          <p:nvPr/>
        </p:nvSpPr>
        <p:spPr>
          <a:xfrm>
            <a:off x="5482075" y="3060925"/>
            <a:ext cx="4595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UCI 공식 문서에서 해당 설비에 대한 도메인 지식을 찾을 수 있었음!</a:t>
            </a:r>
            <a:endParaRPr sz="1600"/>
          </a:p>
        </p:txBody>
      </p:sp>
      <p:sp>
        <p:nvSpPr>
          <p:cNvPr id="255" name="Google Shape;255;p25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14</a:t>
            </a:r>
            <a:endParaRPr/>
          </a:p>
        </p:txBody>
      </p:sp>
      <p:pic>
        <p:nvPicPr>
          <p:cNvPr id="256" name="Google Shape;25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749" y="3632388"/>
            <a:ext cx="8409275" cy="24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5"/>
          <p:cNvSpPr txBox="1"/>
          <p:nvPr/>
        </p:nvSpPr>
        <p:spPr>
          <a:xfrm>
            <a:off x="737755" y="1793875"/>
            <a:ext cx="895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우리의 목표: F1-Score를 늘리자!</a:t>
            </a:r>
            <a:endParaRPr b="1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문제: 현실적으로 도메인 지식도 부족하고, EDA에서 좋은 인사이트를 얻을수가 없었음!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해결: 그럼 직접 서치해서 도메인 지식을 찾아보자!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" name="Google Shape;258;p25"/>
          <p:cNvCxnSpPr>
            <a:stCxn id="257" idx="2"/>
          </p:cNvCxnSpPr>
          <p:nvPr/>
        </p:nvCxnSpPr>
        <p:spPr>
          <a:xfrm>
            <a:off x="5213305" y="2932975"/>
            <a:ext cx="12600" cy="48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6"/>
          <p:cNvSpPr/>
          <p:nvPr/>
        </p:nvSpPr>
        <p:spPr>
          <a:xfrm>
            <a:off x="0" y="0"/>
            <a:ext cx="146400" cy="6858000"/>
          </a:xfrm>
          <a:prstGeom prst="rect">
            <a:avLst/>
          </a:prstGeom>
          <a:solidFill>
            <a:srgbClr val="03C75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6"/>
          <p:cNvSpPr txBox="1"/>
          <p:nvPr/>
        </p:nvSpPr>
        <p:spPr>
          <a:xfrm>
            <a:off x="640080" y="310896"/>
            <a:ext cx="10972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3C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주제 3 · 모델링  (3/3)</a:t>
            </a:r>
            <a:endParaRPr/>
          </a:p>
        </p:txBody>
      </p:sp>
      <p:sp>
        <p:nvSpPr>
          <p:cNvPr id="265" name="Google Shape;265;p26"/>
          <p:cNvSpPr txBox="1"/>
          <p:nvPr/>
        </p:nvSpPr>
        <p:spPr>
          <a:xfrm>
            <a:off x="640080" y="658368"/>
            <a:ext cx="1097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72B4D"/>
                </a:solidFill>
                <a:latin typeface="Malgun Gothic"/>
                <a:ea typeface="Malgun Gothic"/>
                <a:cs typeface="Malgun Gothic"/>
                <a:sym typeface="Malgun Gothic"/>
              </a:rPr>
              <a:t>3차 — 위험구간(risk_zone) 피처  (model_3.ipynb, 최종)</a:t>
            </a:r>
            <a:endParaRPr/>
          </a:p>
        </p:txBody>
      </p:sp>
      <p:sp>
        <p:nvSpPr>
          <p:cNvPr id="266" name="Google Shape;266;p26"/>
          <p:cNvSpPr/>
          <p:nvPr/>
        </p:nvSpPr>
        <p:spPr>
          <a:xfrm>
            <a:off x="658368" y="1481328"/>
            <a:ext cx="10881300" cy="25500"/>
          </a:xfrm>
          <a:prstGeom prst="rect">
            <a:avLst/>
          </a:prstGeom>
          <a:solidFill>
            <a:srgbClr val="D8DEE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6"/>
          <p:cNvSpPr txBox="1"/>
          <p:nvPr/>
        </p:nvSpPr>
        <p:spPr>
          <a:xfrm>
            <a:off x="640078" y="6446525"/>
            <a:ext cx="25179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CNC 설비 정상/불량 판별  ·  UCI AI4I 2020</a:t>
            </a:r>
            <a:endParaRPr/>
          </a:p>
        </p:txBody>
      </p:sp>
      <p:sp>
        <p:nvSpPr>
          <p:cNvPr id="268" name="Google Shape;268;p26"/>
          <p:cNvSpPr txBox="1"/>
          <p:nvPr/>
        </p:nvSpPr>
        <p:spPr>
          <a:xfrm>
            <a:off x="11155680" y="6446520"/>
            <a:ext cx="73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14</a:t>
            </a:r>
            <a:endParaRPr/>
          </a:p>
        </p:txBody>
      </p:sp>
      <p:graphicFrame>
        <p:nvGraphicFramePr>
          <p:cNvPr id="269" name="Google Shape;269;p26"/>
          <p:cNvGraphicFramePr/>
          <p:nvPr/>
        </p:nvGraphicFramePr>
        <p:xfrm>
          <a:off x="658375" y="1824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{35F54E4A-5455-4F09-9023-768CAB313040}</a:tableStyleId>
              </a:tblPr>
              <a:tblGrid>
                <a:gridCol w="1651000"/>
                <a:gridCol w="8636000"/>
              </a:tblGrid>
              <a:tr h="324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파생 피처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공식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172B4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hdf_zone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 if </a:t>
                      </a:r>
                      <a:r>
                        <a:rPr lang="en-US"/>
                        <a:t>온도차 &gt; 8.6K and 회전속도 &lt; 1380 else 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pwf_zone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 if </a:t>
                      </a:r>
                      <a:r>
                        <a:rPr lang="en-US"/>
                        <a:t>동력 &lt; 3500 or 동력 &gt; 9000 else 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osf_zone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 if </a:t>
                      </a:r>
                      <a:r>
                        <a:rPr lang="en-US"/>
                        <a:t>토크 * </a:t>
                      </a:r>
                      <a:r>
                        <a:rPr lang="en-US"/>
                        <a:t>공구 누적 사용 시간</a:t>
                      </a:r>
                      <a:r>
                        <a:rPr lang="en-US"/>
                        <a:t> &gt; 타입별 임계값 (L=11k, M=12K, H=13K) else 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high_wear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 if </a:t>
                      </a:r>
                      <a:r>
                        <a:rPr lang="en-US"/>
                        <a:t>공구 누적 사용 시간 &gt; 200 else 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risk_zone_count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hdf_zone + pwf_zone + osf_zone + high_wear (위험존에 대한 카운팅 값)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7"/>
          <p:cNvSpPr/>
          <p:nvPr/>
        </p:nvSpPr>
        <p:spPr>
          <a:xfrm>
            <a:off x="0" y="0"/>
            <a:ext cx="146400" cy="6858000"/>
          </a:xfrm>
          <a:prstGeom prst="rect">
            <a:avLst/>
          </a:prstGeom>
          <a:solidFill>
            <a:srgbClr val="03C75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7"/>
          <p:cNvSpPr txBox="1"/>
          <p:nvPr/>
        </p:nvSpPr>
        <p:spPr>
          <a:xfrm>
            <a:off x="640080" y="310896"/>
            <a:ext cx="10972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3C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주제 3 · 모델링  (3/3)</a:t>
            </a:r>
            <a:endParaRPr/>
          </a:p>
        </p:txBody>
      </p:sp>
      <p:sp>
        <p:nvSpPr>
          <p:cNvPr id="276" name="Google Shape;276;p27"/>
          <p:cNvSpPr txBox="1"/>
          <p:nvPr/>
        </p:nvSpPr>
        <p:spPr>
          <a:xfrm>
            <a:off x="640080" y="658368"/>
            <a:ext cx="1097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72B4D"/>
                </a:solidFill>
                <a:latin typeface="Malgun Gothic"/>
                <a:ea typeface="Malgun Gothic"/>
                <a:cs typeface="Malgun Gothic"/>
                <a:sym typeface="Malgun Gothic"/>
              </a:rPr>
              <a:t>3차 — 위험구간(risk_zone) 피처  (model_3.ipynb, 최종)</a:t>
            </a:r>
            <a:endParaRPr/>
          </a:p>
        </p:txBody>
      </p:sp>
      <p:sp>
        <p:nvSpPr>
          <p:cNvPr id="277" name="Google Shape;277;p27"/>
          <p:cNvSpPr/>
          <p:nvPr/>
        </p:nvSpPr>
        <p:spPr>
          <a:xfrm>
            <a:off x="658368" y="1481328"/>
            <a:ext cx="10881300" cy="25500"/>
          </a:xfrm>
          <a:prstGeom prst="rect">
            <a:avLst/>
          </a:prstGeom>
          <a:solidFill>
            <a:srgbClr val="D8DEE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odeling2_risk_zone_failure_rate.png" id="278" name="Google Shape;27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2885" y="2027118"/>
            <a:ext cx="4464641" cy="295119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7"/>
          <p:cNvSpPr txBox="1"/>
          <p:nvPr/>
        </p:nvSpPr>
        <p:spPr>
          <a:xfrm>
            <a:off x="7799433" y="5078421"/>
            <a:ext cx="27459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7100" lIns="74225" spcFirstLastPara="1" rIns="74225" wrap="square" tIns="371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31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</a:t>
            </a:r>
            <a:r>
              <a:rPr b="0" lang="en-US" sz="731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위험구간 개수 vs 실</a:t>
            </a:r>
            <a:r>
              <a:rPr b="0" lang="en-US" sz="731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</a:t>
            </a:r>
            <a:r>
              <a:rPr b="0" lang="en-US" sz="731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 불량률</a:t>
            </a:r>
            <a:endParaRPr sz="1137"/>
          </a:p>
        </p:txBody>
      </p:sp>
      <p:pic>
        <p:nvPicPr>
          <p:cNvPr descr="modeling2_feature_correlation.png" id="280" name="Google Shape;28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0338" y="1734800"/>
            <a:ext cx="3826781" cy="3265876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7"/>
          <p:cNvSpPr txBox="1"/>
          <p:nvPr/>
        </p:nvSpPr>
        <p:spPr>
          <a:xfrm>
            <a:off x="1318734" y="5041161"/>
            <a:ext cx="2970000" cy="1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7100" lIns="74225" spcFirstLastPara="1" rIns="74225" wrap="square" tIns="37100">
            <a:spAutoFit/>
          </a:bodyPr>
          <a:lstStyle/>
          <a:p>
            <a:pPr indent="371218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31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</a:t>
            </a:r>
            <a:r>
              <a:rPr b="0" lang="en-US" sz="731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원본 변수 vs 파생변수(zone) — 불량 예측력 비교</a:t>
            </a:r>
            <a:endParaRPr sz="1137"/>
          </a:p>
        </p:txBody>
      </p:sp>
      <p:sp>
        <p:nvSpPr>
          <p:cNvPr id="282" name="Google Shape;282;p27"/>
          <p:cNvSpPr txBox="1"/>
          <p:nvPr/>
        </p:nvSpPr>
        <p:spPr>
          <a:xfrm>
            <a:off x="640078" y="6446525"/>
            <a:ext cx="25179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CNC 설비 정상/불량 판별  ·  UCI AI4I 2020</a:t>
            </a:r>
            <a:endParaRPr/>
          </a:p>
        </p:txBody>
      </p:sp>
      <p:sp>
        <p:nvSpPr>
          <p:cNvPr id="283" name="Google Shape;283;p27"/>
          <p:cNvSpPr txBox="1"/>
          <p:nvPr/>
        </p:nvSpPr>
        <p:spPr>
          <a:xfrm>
            <a:off x="11155680" y="6446520"/>
            <a:ext cx="73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14</a:t>
            </a:r>
            <a:endParaRPr/>
          </a:p>
        </p:txBody>
      </p:sp>
      <p:sp>
        <p:nvSpPr>
          <p:cNvPr id="284" name="Google Shape;284;p27"/>
          <p:cNvSpPr txBox="1"/>
          <p:nvPr/>
        </p:nvSpPr>
        <p:spPr>
          <a:xfrm>
            <a:off x="663450" y="5423288"/>
            <a:ext cx="47937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</a:t>
            </a:r>
            <a:r>
              <a:rPr lang="en-US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risk_zone_count 컬럼이 불량 예측에 대해 아주 높은 상관관계를 가짐 (약 0.64)</a:t>
            </a:r>
            <a:endParaRPr sz="1600"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lang="en-US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</a:t>
            </a:r>
            <a:r>
              <a:rPr lang="en-US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다른 위험 zone에 대해서도 약 0.51의 상관관계를 가짐</a:t>
            </a:r>
            <a:endParaRPr>
              <a:solidFill>
                <a:srgbClr val="1F2A3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5" name="Google Shape;285;p27"/>
          <p:cNvSpPr txBox="1"/>
          <p:nvPr/>
        </p:nvSpPr>
        <p:spPr>
          <a:xfrm>
            <a:off x="5974200" y="5575988"/>
            <a:ext cx="580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risk_zone_count가 1일때 약 20프로의 설비만이 고장임을 알 수 있음</a:t>
            </a:r>
            <a:endParaRPr>
              <a:solidFill>
                <a:srgbClr val="1F2A37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</a:t>
            </a:r>
            <a:r>
              <a:rPr lang="en-US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 risk_zone_count가 2이상이면 사실상 고장임을 알 수 있음</a:t>
            </a:r>
            <a:endParaRPr>
              <a:solidFill>
                <a:srgbClr val="1F2A3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8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3C75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640080" y="310896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3C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주제 4 · 모델 검증 및 개선  (1/2)</a:t>
            </a:r>
            <a:endParaRPr/>
          </a:p>
        </p:txBody>
      </p:sp>
      <p:sp>
        <p:nvSpPr>
          <p:cNvPr id="292" name="Google Shape;292;p28"/>
          <p:cNvSpPr txBox="1"/>
          <p:nvPr/>
        </p:nvSpPr>
        <p:spPr>
          <a:xfrm>
            <a:off x="640080" y="658368"/>
            <a:ext cx="1097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72B4D"/>
                </a:solidFill>
                <a:latin typeface="Malgun Gothic"/>
                <a:ea typeface="Malgun Gothic"/>
                <a:cs typeface="Malgun Gothic"/>
                <a:sym typeface="Malgun Gothic"/>
              </a:rPr>
              <a:t>3차 실험</a:t>
            </a:r>
            <a:r>
              <a:rPr b="1" lang="en-US" sz="2700">
                <a:solidFill>
                  <a:srgbClr val="172B4D"/>
                </a:solidFill>
                <a:latin typeface="Malgun Gothic"/>
                <a:ea typeface="Malgun Gothic"/>
                <a:cs typeface="Malgun Gothic"/>
                <a:sym typeface="Malgun Gothic"/>
              </a:rPr>
              <a:t> 모델 3종 </a:t>
            </a:r>
            <a:r>
              <a:rPr b="1" lang="en-US" sz="2700">
                <a:solidFill>
                  <a:srgbClr val="172B4D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비교</a:t>
            </a:r>
            <a:endParaRPr/>
          </a:p>
        </p:txBody>
      </p:sp>
      <p:sp>
        <p:nvSpPr>
          <p:cNvPr id="293" name="Google Shape;293;p28"/>
          <p:cNvSpPr/>
          <p:nvPr/>
        </p:nvSpPr>
        <p:spPr>
          <a:xfrm>
            <a:off x="658368" y="1481328"/>
            <a:ext cx="10881360" cy="25400"/>
          </a:xfrm>
          <a:prstGeom prst="rect">
            <a:avLst/>
          </a:prstGeom>
          <a:solidFill>
            <a:srgbClr val="D8DEE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8"/>
          <p:cNvSpPr txBox="1"/>
          <p:nvPr/>
        </p:nvSpPr>
        <p:spPr>
          <a:xfrm>
            <a:off x="658365" y="3525135"/>
            <a:ext cx="4297800" cy="11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 3개 모델 1</a:t>
            </a:r>
            <a:r>
              <a:rPr lang="en-US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차, 2차 실험에 비해 </a:t>
            </a:r>
            <a:r>
              <a:rPr b="0" lang="en-US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전부 F1 상승</a:t>
            </a:r>
            <a:endParaRPr b="0">
              <a:solidFill>
                <a:srgbClr val="1F2A37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1" marL="45720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 1</a:t>
            </a:r>
            <a:r>
              <a:rPr lang="en-US" sz="1300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차: </a:t>
            </a:r>
            <a:r>
              <a:rPr b="0" i="0" lang="en-US" sz="1300" u="none" cap="none" strike="noStrike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RF +0.185 / XGB +0.128 / LGBM +0.098</a:t>
            </a:r>
            <a:endParaRPr b="0" i="0" sz="1300" u="none" cap="none" strike="noStrike">
              <a:solidFill>
                <a:srgbClr val="5B667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1" marL="45720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 2차: RF +0.56 / XGB +0.11 / LGBM</a:t>
            </a:r>
            <a:r>
              <a:rPr lang="en-US" sz="1300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 +0.2 </a:t>
            </a:r>
            <a:endParaRPr sz="1300">
              <a:solidFill>
                <a:srgbClr val="5B667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  </a:t>
            </a:r>
            <a:r>
              <a:rPr b="0" lang="en-US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특정 알고리즘</a:t>
            </a:r>
            <a:r>
              <a:rPr lang="en-US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</a:t>
            </a:r>
            <a:r>
              <a:rPr b="0" lang="en-US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 과적합이 아닌 일반적 효과</a:t>
            </a:r>
            <a:endParaRPr>
              <a:solidFill>
                <a:srgbClr val="1F2A3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5" name="Google Shape;295;p28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CNC 설비 정상/불량 판별  ·  UCI AI4I 2020</a:t>
            </a:r>
            <a:endParaRPr/>
          </a:p>
        </p:txBody>
      </p:sp>
      <p:sp>
        <p:nvSpPr>
          <p:cNvPr id="296" name="Google Shape;296;p28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15</a:t>
            </a:r>
            <a:endParaRPr/>
          </a:p>
        </p:txBody>
      </p:sp>
      <p:graphicFrame>
        <p:nvGraphicFramePr>
          <p:cNvPr id="297" name="Google Shape;297;p28"/>
          <p:cNvGraphicFramePr/>
          <p:nvPr/>
        </p:nvGraphicFramePr>
        <p:xfrm>
          <a:off x="742825" y="18809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{8895D767-9EA1-4873-9337-5FE503F15B50}</a:tableStyleId>
              </a:tblPr>
              <a:tblGrid>
                <a:gridCol w="4937750"/>
                <a:gridCol w="1417325"/>
                <a:gridCol w="1417325"/>
                <a:gridCol w="1417325"/>
                <a:gridCol w="1417325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모델 (</a:t>
                      </a:r>
                      <a:r>
                        <a:rPr lang="en-US" sz="125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도메인 지식 적용)</a:t>
                      </a:r>
                      <a:endParaRPr b="1" sz="1250" u="none" cap="none" strike="noStrike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8300" marB="18300" marR="73150" marL="73150" anchor="ctr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정확도</a:t>
                      </a:r>
                      <a:endParaRPr sz="1500"/>
                    </a:p>
                  </a:txBody>
                  <a:tcPr marT="18300" marB="18300" marR="73150" marL="73150" anchor="ctr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정밀도</a:t>
                      </a:r>
                      <a:endParaRPr sz="1500"/>
                    </a:p>
                  </a:txBody>
                  <a:tcPr marT="18300" marB="18300" marR="73150" marL="73150" anchor="ctr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재현율</a:t>
                      </a:r>
                      <a:endParaRPr sz="1500"/>
                    </a:p>
                  </a:txBody>
                  <a:tcPr marT="18300" marB="18300" marR="73150" marL="73150" anchor="ctr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F1-score</a:t>
                      </a:r>
                      <a:endParaRPr sz="1500"/>
                    </a:p>
                  </a:txBody>
                  <a:tcPr marT="18300" marB="18300" marR="73150" marL="73150" anchor="ctr">
                    <a:solidFill>
                      <a:srgbClr val="172B4D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Random Forest</a:t>
                      </a:r>
                      <a:endParaRPr b="1" sz="1500"/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</a:t>
                      </a:r>
                      <a:r>
                        <a:rPr b="1" lang="en-US" sz="125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994</a:t>
                      </a:r>
                      <a:endParaRPr b="1" sz="1250" u="none" cap="none" strike="noStrike">
                        <a:solidFill>
                          <a:srgbClr val="1F2A37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100"/>
                        <a:buNone/>
                      </a:pPr>
                      <a:r>
                        <a:rPr b="1" lang="en-US" sz="1250"/>
                        <a:t>1.000</a:t>
                      </a:r>
                      <a:endParaRPr b="1" sz="1250">
                        <a:solidFill>
                          <a:srgbClr val="1F2A37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100"/>
                        <a:buNone/>
                      </a:pPr>
                      <a:r>
                        <a:rPr b="1" lang="en-US" sz="1250"/>
                        <a:t>0.838</a:t>
                      </a:r>
                      <a:endParaRPr b="1" sz="1250">
                        <a:solidFill>
                          <a:srgbClr val="1F2A37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0.912</a:t>
                      </a:r>
                      <a:endParaRPr b="1" sz="1250">
                        <a:solidFill>
                          <a:srgbClr val="1F2A37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XGBoost</a:t>
                      </a:r>
                      <a:endParaRPr b="0" sz="1250" u="none" cap="none" strike="noStrike">
                        <a:solidFill>
                          <a:srgbClr val="1F2A37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100"/>
                        <a:buNone/>
                      </a:pPr>
                      <a:r>
                        <a:rPr lang="en-US" sz="1250"/>
                        <a:t>0.992</a:t>
                      </a:r>
                      <a:endParaRPr sz="1250">
                        <a:solidFill>
                          <a:srgbClr val="1F2A37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100"/>
                        <a:buNone/>
                      </a:pPr>
                      <a:r>
                        <a:rPr lang="en-US" sz="1250"/>
                        <a:t>0.934</a:t>
                      </a:r>
                      <a:endParaRPr sz="1250">
                        <a:solidFill>
                          <a:srgbClr val="1F2A37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100"/>
                        <a:buNone/>
                      </a:pPr>
                      <a:r>
                        <a:rPr lang="en-US" sz="1250"/>
                        <a:t>0.838</a:t>
                      </a:r>
                      <a:endParaRPr sz="1250">
                        <a:solidFill>
                          <a:srgbClr val="1F2A37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100"/>
                        <a:buNone/>
                      </a:pPr>
                      <a:r>
                        <a:rPr lang="en-US" sz="1250"/>
                        <a:t>0.884</a:t>
                      </a:r>
                      <a:endParaRPr b="1" sz="1250">
                        <a:solidFill>
                          <a:srgbClr val="1F2A37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lightGBM</a:t>
                      </a:r>
                      <a:endParaRPr b="0" sz="1250" u="none" cap="none" strike="noStrike">
                        <a:solidFill>
                          <a:srgbClr val="1F2A37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100"/>
                        <a:buNone/>
                      </a:pPr>
                      <a:r>
                        <a:rPr lang="en-US" sz="1250"/>
                        <a:t>0.994</a:t>
                      </a:r>
                      <a:endParaRPr sz="1250">
                        <a:solidFill>
                          <a:srgbClr val="1F2A37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100"/>
                        <a:buNone/>
                      </a:pPr>
                      <a:r>
                        <a:rPr lang="en-US" sz="1250"/>
                        <a:t>0.966</a:t>
                      </a:r>
                      <a:endParaRPr sz="1250">
                        <a:solidFill>
                          <a:srgbClr val="1F2A37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100"/>
                        <a:buNone/>
                      </a:pPr>
                      <a:r>
                        <a:rPr lang="en-US" sz="1250"/>
                        <a:t>0.838</a:t>
                      </a:r>
                      <a:endParaRPr sz="1250">
                        <a:solidFill>
                          <a:srgbClr val="1F2A37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100"/>
                        <a:buNone/>
                      </a:pPr>
                      <a:r>
                        <a:rPr lang="en-US" sz="1250"/>
                        <a:t>0.898</a:t>
                      </a:r>
                      <a:endParaRPr b="1" sz="1250">
                        <a:solidFill>
                          <a:srgbClr val="1F2A37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9"/>
          <p:cNvSpPr/>
          <p:nvPr/>
        </p:nvSpPr>
        <p:spPr>
          <a:xfrm>
            <a:off x="0" y="0"/>
            <a:ext cx="146400" cy="6858000"/>
          </a:xfrm>
          <a:prstGeom prst="rect">
            <a:avLst/>
          </a:prstGeom>
          <a:solidFill>
            <a:srgbClr val="03C75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9"/>
          <p:cNvSpPr txBox="1"/>
          <p:nvPr/>
        </p:nvSpPr>
        <p:spPr>
          <a:xfrm>
            <a:off x="640080" y="310896"/>
            <a:ext cx="10972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3C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주제 4 · 모델 검증 및 개선  (1/2)</a:t>
            </a:r>
            <a:endParaRPr/>
          </a:p>
        </p:txBody>
      </p:sp>
      <p:sp>
        <p:nvSpPr>
          <p:cNvPr id="304" name="Google Shape;304;p29"/>
          <p:cNvSpPr txBox="1"/>
          <p:nvPr/>
        </p:nvSpPr>
        <p:spPr>
          <a:xfrm>
            <a:off x="640080" y="658368"/>
            <a:ext cx="1097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72B4D"/>
                </a:solidFill>
                <a:latin typeface="Malgun Gothic"/>
                <a:ea typeface="Malgun Gothic"/>
                <a:cs typeface="Malgun Gothic"/>
                <a:sym typeface="Malgun Gothic"/>
              </a:rPr>
              <a:t>Baseline vs 3</a:t>
            </a:r>
            <a:r>
              <a:rPr b="1" lang="en-US" sz="2700">
                <a:solidFill>
                  <a:srgbClr val="172B4D"/>
                </a:solidFill>
                <a:latin typeface="Malgun Gothic"/>
                <a:ea typeface="Malgun Gothic"/>
                <a:cs typeface="Malgun Gothic"/>
                <a:sym typeface="Malgun Gothic"/>
              </a:rPr>
              <a:t>차 </a:t>
            </a:r>
            <a:r>
              <a:rPr b="1" lang="en-US" sz="2700">
                <a:solidFill>
                  <a:srgbClr val="172B4D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 3종 </a:t>
            </a:r>
            <a:r>
              <a:rPr b="1" lang="en-US" sz="2700">
                <a:solidFill>
                  <a:srgbClr val="172B4D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비교 그래프</a:t>
            </a:r>
            <a:endParaRPr/>
          </a:p>
        </p:txBody>
      </p:sp>
      <p:sp>
        <p:nvSpPr>
          <p:cNvPr id="305" name="Google Shape;305;p29"/>
          <p:cNvSpPr/>
          <p:nvPr/>
        </p:nvSpPr>
        <p:spPr>
          <a:xfrm>
            <a:off x="658368" y="1481328"/>
            <a:ext cx="10881300" cy="25500"/>
          </a:xfrm>
          <a:prstGeom prst="rect">
            <a:avLst/>
          </a:prstGeom>
          <a:solidFill>
            <a:srgbClr val="D8DEE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odeling2_model_comparison.png" id="306" name="Google Shape;30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698075"/>
            <a:ext cx="10469873" cy="4748449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9"/>
          <p:cNvSpPr txBox="1"/>
          <p:nvPr/>
        </p:nvSpPr>
        <p:spPr>
          <a:xfrm>
            <a:off x="640080" y="6446520"/>
            <a:ext cx="8229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CNC 설비 정상/불량 판별  ·  UCI AI4I 2020</a:t>
            </a:r>
            <a:endParaRPr/>
          </a:p>
        </p:txBody>
      </p:sp>
      <p:sp>
        <p:nvSpPr>
          <p:cNvPr id="308" name="Google Shape;308;p29"/>
          <p:cNvSpPr txBox="1"/>
          <p:nvPr/>
        </p:nvSpPr>
        <p:spPr>
          <a:xfrm>
            <a:off x="11155680" y="6446520"/>
            <a:ext cx="73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15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3C75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0"/>
          <p:cNvSpPr txBox="1"/>
          <p:nvPr/>
        </p:nvSpPr>
        <p:spPr>
          <a:xfrm>
            <a:off x="640080" y="310896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3C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주제 4 · 모델 검증 및 개선  (2/2)</a:t>
            </a:r>
            <a:endParaRPr/>
          </a:p>
        </p:txBody>
      </p:sp>
      <p:sp>
        <p:nvSpPr>
          <p:cNvPr id="315" name="Google Shape;315;p30"/>
          <p:cNvSpPr txBox="1"/>
          <p:nvPr/>
        </p:nvSpPr>
        <p:spPr>
          <a:xfrm>
            <a:off x="640080" y="658368"/>
            <a:ext cx="1097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700">
                <a:solidFill>
                  <a:srgbClr val="172B4D"/>
                </a:solidFill>
                <a:latin typeface="Malgun Gothic"/>
                <a:ea typeface="Malgun Gothic"/>
                <a:cs typeface="Malgun Gothic"/>
                <a:sym typeface="Malgun Gothic"/>
              </a:rPr>
              <a:t>3차 </a:t>
            </a:r>
            <a:r>
              <a:rPr b="1" lang="en-US" sz="2700">
                <a:solidFill>
                  <a:srgbClr val="172B4D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 3종 confusion matrix 비교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rgbClr val="172B4D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6" name="Google Shape;316;p30"/>
          <p:cNvSpPr/>
          <p:nvPr/>
        </p:nvSpPr>
        <p:spPr>
          <a:xfrm>
            <a:off x="658368" y="1481328"/>
            <a:ext cx="10881360" cy="25400"/>
          </a:xfrm>
          <a:prstGeom prst="rect">
            <a:avLst/>
          </a:prstGeom>
          <a:solidFill>
            <a:srgbClr val="D8DEE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odeling2_confusion_matrices.png" id="317" name="Google Shape;317;p30"/>
          <p:cNvPicPr preferRelativeResize="0"/>
          <p:nvPr/>
        </p:nvPicPr>
        <p:blipFill rotWithShape="1">
          <a:blip r:embed="rId3">
            <a:alphaModFix/>
          </a:blip>
          <a:srcRect b="0" l="0" r="0" t="47146"/>
          <a:stretch/>
        </p:blipFill>
        <p:spPr>
          <a:xfrm>
            <a:off x="658375" y="1846875"/>
            <a:ext cx="10881352" cy="3522033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30"/>
          <p:cNvSpPr txBox="1"/>
          <p:nvPr/>
        </p:nvSpPr>
        <p:spPr>
          <a:xfrm>
            <a:off x="11064305" y="6446520"/>
            <a:ext cx="73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16</a:t>
            </a:r>
            <a:endParaRPr/>
          </a:p>
        </p:txBody>
      </p:sp>
      <p:sp>
        <p:nvSpPr>
          <p:cNvPr id="319" name="Google Shape;319;p30"/>
          <p:cNvSpPr txBox="1"/>
          <p:nvPr/>
        </p:nvSpPr>
        <p:spPr>
          <a:xfrm>
            <a:off x="803649" y="5368900"/>
            <a:ext cx="8027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 </a:t>
            </a:r>
            <a:r>
              <a:rPr lang="en-US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Recall은 모두 같지만 Precision에서 차이가 남 (RF &gt; lightGBM &gt; XGBoost)</a:t>
            </a:r>
            <a:endParaRPr>
              <a:solidFill>
                <a:srgbClr val="1F2A37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 F1-Score상 가장 우수한 모델은 RF -&gt; 최종 모델로 선정</a:t>
            </a:r>
            <a:endParaRPr>
              <a:solidFill>
                <a:srgbClr val="1F2A3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1"/>
          <p:cNvSpPr/>
          <p:nvPr/>
        </p:nvSpPr>
        <p:spPr>
          <a:xfrm>
            <a:off x="0" y="0"/>
            <a:ext cx="146400" cy="6858000"/>
          </a:xfrm>
          <a:prstGeom prst="rect">
            <a:avLst/>
          </a:prstGeom>
          <a:solidFill>
            <a:srgbClr val="03C75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1"/>
          <p:cNvSpPr txBox="1"/>
          <p:nvPr/>
        </p:nvSpPr>
        <p:spPr>
          <a:xfrm>
            <a:off x="640080" y="310896"/>
            <a:ext cx="10972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3C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주제 4 · 모델 검증 및 개선  (2/2)</a:t>
            </a:r>
            <a:endParaRPr/>
          </a:p>
        </p:txBody>
      </p:sp>
      <p:sp>
        <p:nvSpPr>
          <p:cNvPr id="326" name="Google Shape;326;p31"/>
          <p:cNvSpPr txBox="1"/>
          <p:nvPr/>
        </p:nvSpPr>
        <p:spPr>
          <a:xfrm>
            <a:off x="640075" y="658372"/>
            <a:ext cx="1097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72B4D"/>
                </a:solidFill>
                <a:latin typeface="Malgun Gothic"/>
                <a:ea typeface="Malgun Gothic"/>
                <a:cs typeface="Malgun Gothic"/>
                <a:sym typeface="Malgun Gothic"/>
              </a:rPr>
              <a:t>1, 2, 3차 모델 3종 비교 그래프</a:t>
            </a:r>
            <a:endParaRPr b="1" sz="2700">
              <a:solidFill>
                <a:srgbClr val="172B4D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7" name="Google Shape;327;p31"/>
          <p:cNvSpPr/>
          <p:nvPr/>
        </p:nvSpPr>
        <p:spPr>
          <a:xfrm>
            <a:off x="655343" y="1236853"/>
            <a:ext cx="10881300" cy="25500"/>
          </a:xfrm>
          <a:prstGeom prst="rect">
            <a:avLst/>
          </a:prstGeom>
          <a:solidFill>
            <a:srgbClr val="D8DEE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1"/>
          <p:cNvSpPr txBox="1"/>
          <p:nvPr/>
        </p:nvSpPr>
        <p:spPr>
          <a:xfrm>
            <a:off x="11064305" y="6446520"/>
            <a:ext cx="73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16</a:t>
            </a:r>
            <a:endParaRPr/>
          </a:p>
        </p:txBody>
      </p:sp>
      <p:graphicFrame>
        <p:nvGraphicFramePr>
          <p:cNvPr id="329" name="Google Shape;329;p31"/>
          <p:cNvGraphicFramePr/>
          <p:nvPr/>
        </p:nvGraphicFramePr>
        <p:xfrm>
          <a:off x="777300" y="177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{35F54E4A-5455-4F09-9023-768CAB313040}</a:tableStyleId>
              </a:tblPr>
              <a:tblGrid>
                <a:gridCol w="1793225"/>
                <a:gridCol w="1793225"/>
                <a:gridCol w="1793225"/>
                <a:gridCol w="1793225"/>
                <a:gridCol w="1793225"/>
                <a:gridCol w="17932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모델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정확도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정밀도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재현율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F1-Score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1000">
                <a:tc row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1차 실험</a:t>
                      </a:r>
                      <a:br>
                        <a:rPr lang="en-US">
                          <a:solidFill>
                            <a:schemeClr val="lt1"/>
                          </a:solidFill>
                        </a:rPr>
                      </a:br>
                      <a:r>
                        <a:rPr lang="en-US">
                          <a:solidFill>
                            <a:schemeClr val="lt1"/>
                          </a:solidFill>
                        </a:rPr>
                        <a:t>( baseline 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RandomForest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0.942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0.35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0.85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0.50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lightGBM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0.985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0.89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0.62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>
                          <a:solidFill>
                            <a:schemeClr val="dk1"/>
                          </a:solidFill>
                        </a:rPr>
                        <a:t>0.73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XGBoost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0.984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0.91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0.59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0.71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47625" marB="47625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 row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2차 실험</a:t>
                      </a:r>
                      <a:br>
                        <a:rPr lang="en-US">
                          <a:solidFill>
                            <a:schemeClr val="lt1"/>
                          </a:solidFill>
                        </a:rPr>
                      </a:br>
                      <a:r>
                        <a:rPr lang="en-US">
                          <a:solidFill>
                            <a:schemeClr val="lt1"/>
                          </a:solidFill>
                        </a:rPr>
                        <a:t>( </a:t>
                      </a:r>
                      <a:r>
                        <a:rPr lang="en-US">
                          <a:solidFill>
                            <a:schemeClr val="lt1"/>
                          </a:solidFill>
                        </a:rPr>
                        <a:t>파생피처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+ 하이퍼파라미터 서치 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RandomForest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0.88</a:t>
                      </a:r>
                      <a:endParaRPr/>
                    </a:p>
                  </a:txBody>
                  <a:tcPr marT="18300" marB="18300" marR="73150" marL="731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0.22</a:t>
                      </a:r>
                      <a:endParaRPr/>
                    </a:p>
                  </a:txBody>
                  <a:tcPr marT="18300" marB="18300" marR="73150" marL="731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0.95</a:t>
                      </a:r>
                      <a:endParaRPr/>
                    </a:p>
                  </a:txBody>
                  <a:tcPr marT="18300" marB="18300" marR="73150" marL="731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0.35</a:t>
                      </a:r>
                      <a:endParaRPr/>
                    </a:p>
                  </a:txBody>
                  <a:tcPr marT="18300" marB="18300" marR="73150" marL="731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lightGBM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0.98</a:t>
                      </a:r>
                      <a:endParaRPr b="1"/>
                    </a:p>
                  </a:txBody>
                  <a:tcPr marT="18300" marB="18300" marR="73150" marL="731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0.61</a:t>
                      </a:r>
                      <a:endParaRPr b="1"/>
                    </a:p>
                  </a:txBody>
                  <a:tcPr marT="18300" marB="18300" marR="73150" marL="731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0.79</a:t>
                      </a:r>
                      <a:endParaRPr b="1"/>
                    </a:p>
                  </a:txBody>
                  <a:tcPr marT="18300" marB="18300" marR="73150" marL="731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0.69</a:t>
                      </a:r>
                      <a:endParaRPr b="1"/>
                    </a:p>
                  </a:txBody>
                  <a:tcPr marT="18300" marB="18300" marR="73150" marL="731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XGBoost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0.98</a:t>
                      </a:r>
                      <a:endParaRPr/>
                    </a:p>
                  </a:txBody>
                  <a:tcPr marT="18300" marB="18300" marR="73150" marL="731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0.57</a:t>
                      </a:r>
                      <a:endParaRPr/>
                    </a:p>
                  </a:txBody>
                  <a:tcPr marT="18300" marB="18300" marR="73150" marL="731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0.82</a:t>
                      </a:r>
                      <a:endParaRPr/>
                    </a:p>
                  </a:txBody>
                  <a:tcPr marT="18300" marB="18300" marR="73150" marL="731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0.67</a:t>
                      </a:r>
                      <a:endParaRPr/>
                    </a:p>
                  </a:txBody>
                  <a:tcPr marT="18300" marB="18300" marR="73150" marL="731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 row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3차 실험</a:t>
                      </a:r>
                      <a:br>
                        <a:rPr lang="en-US">
                          <a:solidFill>
                            <a:schemeClr val="lt1"/>
                          </a:solidFill>
                        </a:rPr>
                      </a:br>
                      <a:r>
                        <a:rPr lang="en-US">
                          <a:solidFill>
                            <a:schemeClr val="lt1"/>
                          </a:solidFill>
                        </a:rPr>
                        <a:t>( </a:t>
                      </a:r>
                      <a:r>
                        <a:rPr lang="en-US">
                          <a:solidFill>
                            <a:schemeClr val="lt1"/>
                          </a:solidFill>
                        </a:rPr>
                        <a:t>도메인 지식 적용 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RandomForest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/>
                        <a:t>0.994</a:t>
                      </a:r>
                      <a:endParaRPr b="1"/>
                    </a:p>
                  </a:txBody>
                  <a:tcPr marT="47625" marB="47625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/>
                        <a:t>1.000</a:t>
                      </a:r>
                      <a:endParaRPr b="1"/>
                    </a:p>
                  </a:txBody>
                  <a:tcPr marT="47625" marB="47625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/>
                        <a:t>0.838</a:t>
                      </a:r>
                      <a:endParaRPr b="1"/>
                    </a:p>
                  </a:txBody>
                  <a:tcPr marT="47625" marB="47625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1F2A37"/>
                          </a:solidFill>
                        </a:rPr>
                        <a:t>0.912</a:t>
                      </a:r>
                      <a:endParaRPr b="1" u="none" cap="none" strike="noStrike">
                        <a:solidFill>
                          <a:srgbClr val="1F2A37"/>
                        </a:solidFill>
                      </a:endParaRPr>
                    </a:p>
                  </a:txBody>
                  <a:tcPr marT="18300" marB="18300" marR="73150" marL="731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lightGBM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/>
                        <a:t>0.992</a:t>
                      </a:r>
                      <a:endParaRPr/>
                    </a:p>
                  </a:txBody>
                  <a:tcPr marT="47625" marB="47625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/>
                        <a:t>0.934</a:t>
                      </a:r>
                      <a:endParaRPr/>
                    </a:p>
                  </a:txBody>
                  <a:tcPr marT="47625" marB="47625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/>
                        <a:t>0.838</a:t>
                      </a:r>
                      <a:endParaRPr/>
                    </a:p>
                  </a:txBody>
                  <a:tcPr marT="47625" marB="47625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/>
                        <a:t>0.884</a:t>
                      </a:r>
                      <a:endParaRPr/>
                    </a:p>
                  </a:txBody>
                  <a:tcPr marT="47625" marB="47625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XGBoost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/>
                        <a:t>0.994</a:t>
                      </a:r>
                      <a:endParaRPr/>
                    </a:p>
                  </a:txBody>
                  <a:tcPr marT="47625" marB="47625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/>
                        <a:t>0.966</a:t>
                      </a:r>
                      <a:endParaRPr/>
                    </a:p>
                  </a:txBody>
                  <a:tcPr marT="47625" marB="47625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/>
                        <a:t>0.838</a:t>
                      </a:r>
                      <a:endParaRPr/>
                    </a:p>
                  </a:txBody>
                  <a:tcPr marT="47625" marB="47625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/>
                        <a:t>0.898</a:t>
                      </a:r>
                      <a:endParaRPr/>
                    </a:p>
                  </a:txBody>
                  <a:tcPr marT="47625" marB="47625" marR="95250" marL="9525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3C75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2"/>
          <p:cNvSpPr txBox="1"/>
          <p:nvPr/>
        </p:nvSpPr>
        <p:spPr>
          <a:xfrm>
            <a:off x="640080" y="310896"/>
            <a:ext cx="10972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3C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주제 5 · UI 시스템  (1/2)</a:t>
            </a:r>
            <a:endParaRPr/>
          </a:p>
        </p:txBody>
      </p:sp>
      <p:sp>
        <p:nvSpPr>
          <p:cNvPr id="336" name="Google Shape;336;p32"/>
          <p:cNvSpPr txBox="1"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72B4D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아키텍처 — src/UI/ 4개 모듈</a:t>
            </a:r>
            <a:endParaRPr/>
          </a:p>
        </p:txBody>
      </p:sp>
      <p:sp>
        <p:nvSpPr>
          <p:cNvPr id="337" name="Google Shape;337;p32"/>
          <p:cNvSpPr/>
          <p:nvPr/>
        </p:nvSpPr>
        <p:spPr>
          <a:xfrm>
            <a:off x="658368" y="1481328"/>
            <a:ext cx="10881360" cy="25400"/>
          </a:xfrm>
          <a:prstGeom prst="rect">
            <a:avLst/>
          </a:prstGeom>
          <a:solidFill>
            <a:srgbClr val="D8DEE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8" name="Google Shape;338;p32"/>
          <p:cNvGraphicFramePr/>
          <p:nvPr/>
        </p:nvGraphicFramePr>
        <p:xfrm>
          <a:off x="605543" y="41585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{8895D767-9EA1-4873-9337-5FE503F15B50}</a:tableStyleId>
              </a:tblPr>
              <a:tblGrid>
                <a:gridCol w="1561975"/>
                <a:gridCol w="3829250"/>
              </a:tblGrid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모듈</a:t>
                      </a:r>
                      <a:endParaRPr sz="1600"/>
                    </a:p>
                  </a:txBody>
                  <a:tcPr marT="18300" marB="18300" marR="73150" marL="73150" anchor="ctr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역할</a:t>
                      </a:r>
                      <a:endParaRPr b="1" sz="1250" u="none" cap="none" strike="noStrike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8300" marB="18300" marR="73150" marL="73150" anchor="ctr">
                    <a:solidFill>
                      <a:srgbClr val="172B4D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main.py</a:t>
                      </a:r>
                      <a:endParaRPr sz="1600"/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위젯 조립 및 UI 제공</a:t>
                      </a:r>
                      <a:endParaRPr b="0" sz="1250" u="none" cap="none" strike="noStrike">
                        <a:solidFill>
                          <a:srgbClr val="1F2A37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visualizer.py</a:t>
                      </a:r>
                      <a:endParaRPr sz="1600"/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CSV → matplotlib Figure (그래프 12종)</a:t>
                      </a:r>
                      <a:endParaRPr sz="1600"/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crawler.py</a:t>
                      </a:r>
                      <a:endParaRPr sz="1600"/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검색어 → 네이버 뉴스 HTML → 기사 목록</a:t>
                      </a:r>
                      <a:endParaRPr b="0" sz="1250" u="none" cap="none" strike="noStrike">
                        <a:solidFill>
                          <a:srgbClr val="1F2A37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8300" marB="18300" marR="73150" marL="73150" anchor="ctr"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model_predictor.py</a:t>
                      </a:r>
                      <a:endParaRPr sz="1600"/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1F2A37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저장된 모델 로드, 입력 → 예측/지표</a:t>
                      </a:r>
                      <a:endParaRPr b="0" sz="1250" u="none" cap="none" strike="noStrike">
                        <a:solidFill>
                          <a:srgbClr val="1F2A37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8300" marB="18300" marR="73150" marL="73150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39" name="Google Shape;339;p32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CNC 설비 정상/불량 판별  ·  UCI AI4I 2020</a:t>
            </a:r>
            <a:endParaRPr/>
          </a:p>
        </p:txBody>
      </p:sp>
      <p:sp>
        <p:nvSpPr>
          <p:cNvPr id="340" name="Google Shape;340;p32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18</a:t>
            </a:r>
            <a:endParaRPr/>
          </a:p>
        </p:txBody>
      </p:sp>
      <p:pic>
        <p:nvPicPr>
          <p:cNvPr id="341" name="Google Shape;34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525" y="1855575"/>
            <a:ext cx="4118900" cy="202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89650" y="1855575"/>
            <a:ext cx="5797549" cy="393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3C75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3"/>
          <p:cNvSpPr txBox="1"/>
          <p:nvPr/>
        </p:nvSpPr>
        <p:spPr>
          <a:xfrm>
            <a:off x="640080" y="310896"/>
            <a:ext cx="10972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3C75A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주제 5 · UI 시스템  (2/2)</a:t>
            </a:r>
            <a:endParaRPr/>
          </a:p>
        </p:txBody>
      </p:sp>
      <p:sp>
        <p:nvSpPr>
          <p:cNvPr id="349" name="Google Shape;349;p33"/>
          <p:cNvSpPr txBox="1"/>
          <p:nvPr/>
        </p:nvSpPr>
        <p:spPr>
          <a:xfrm>
            <a:off x="640080" y="658368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72B4D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기능 — 데스크톱 앱 (Tkinter)</a:t>
            </a:r>
            <a:endParaRPr/>
          </a:p>
        </p:txBody>
      </p:sp>
      <p:sp>
        <p:nvSpPr>
          <p:cNvPr id="350" name="Google Shape;350;p33"/>
          <p:cNvSpPr/>
          <p:nvPr/>
        </p:nvSpPr>
        <p:spPr>
          <a:xfrm>
            <a:off x="658368" y="1481328"/>
            <a:ext cx="10881360" cy="25400"/>
          </a:xfrm>
          <a:prstGeom prst="rect">
            <a:avLst/>
          </a:prstGeom>
          <a:solidFill>
            <a:srgbClr val="D8DEE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I1.png" id="351" name="Google Shape;35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41" y="1737360"/>
            <a:ext cx="4004636" cy="220367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3"/>
          <p:cNvSpPr txBox="1"/>
          <p:nvPr/>
        </p:nvSpPr>
        <p:spPr>
          <a:xfrm>
            <a:off x="0" y="407531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전체 데이터 한눈에 보기</a:t>
            </a:r>
            <a:endParaRPr/>
          </a:p>
        </p:txBody>
      </p:sp>
      <p:sp>
        <p:nvSpPr>
          <p:cNvPr id="353" name="Google Shape;353;p33"/>
          <p:cNvSpPr txBox="1"/>
          <p:nvPr/>
        </p:nvSpPr>
        <p:spPr>
          <a:xfrm>
            <a:off x="5355118" y="39204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 모델 입력 · 예측</a:t>
            </a:r>
            <a:endParaRPr b="0" sz="900">
              <a:solidFill>
                <a:srgbClr val="5B667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4" name="Google Shape;354;p33"/>
          <p:cNvSpPr txBox="1"/>
          <p:nvPr/>
        </p:nvSpPr>
        <p:spPr>
          <a:xfrm>
            <a:off x="6151130" y="4288600"/>
            <a:ext cx="4339800" cy="24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 좌측 3개 탭</a:t>
            </a:r>
            <a:endParaRPr/>
          </a:p>
          <a:p>
            <a:pPr indent="0" lvl="1" marL="45720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 ① 전체 데이터: 요약 카드 4 + 그래프 12</a:t>
            </a:r>
            <a:endParaRPr/>
          </a:p>
          <a:p>
            <a:pPr indent="0" lvl="1" marL="45720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 ② 모델 훈련 결과: 지표 카드 5 + 비교 그래프</a:t>
            </a:r>
            <a:endParaRPr b="0" i="0" sz="1150" u="none" cap="none" strike="noStrike">
              <a:solidFill>
                <a:srgbClr val="5B667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1" marL="45720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 ③ 모델 입력 → 정상/불량 + 불량 확률 예측</a:t>
            </a:r>
            <a:endParaRPr b="0" i="0" sz="1150" u="none" cap="none" strike="noStrike">
              <a:solidFill>
                <a:srgbClr val="5B667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 입력 6개(Type·기온·공정온도·회전속도·토크·마모)</a:t>
            </a:r>
            <a:endParaRPr/>
          </a:p>
          <a:p>
            <a:pPr indent="0" lvl="1" marL="45720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 → 15개 피처(위험구간 포함)로 변환 후 예측</a:t>
            </a:r>
            <a:endParaRPr b="0" i="0" sz="1150" u="none" cap="none" strike="noStrike">
              <a:solidFill>
                <a:srgbClr val="5B667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 우측: 네이버 뉴스 크롤링</a:t>
            </a:r>
            <a:endParaRPr b="0" sz="1250">
              <a:solidFill>
                <a:srgbClr val="1F2A37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1" marL="45720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 그래프 카드 클릭 시 그 인사이트 키워드로 재검색</a:t>
            </a:r>
            <a:endParaRPr b="0" i="0" sz="1150" u="none" cap="none" strike="noStrike">
              <a:solidFill>
                <a:srgbClr val="5B667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1" marL="45720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 EDA 결과 ↔ 실제 업계 뉴스 교차검증</a:t>
            </a:r>
            <a:endParaRPr b="0" i="0" sz="1150" u="none" cap="none" strike="noStrike">
              <a:solidFill>
                <a:srgbClr val="5B667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5" name="Google Shape;355;p33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17</a:t>
            </a:r>
            <a:endParaRPr/>
          </a:p>
        </p:txBody>
      </p:sp>
      <p:pic>
        <p:nvPicPr>
          <p:cNvPr id="356" name="Google Shape;356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4385" y="4416201"/>
            <a:ext cx="3965493" cy="2093416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33"/>
          <p:cNvSpPr txBox="1"/>
          <p:nvPr/>
        </p:nvSpPr>
        <p:spPr>
          <a:xfrm>
            <a:off x="0" y="6545038"/>
            <a:ext cx="548640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</a:t>
            </a:r>
            <a:r>
              <a:rPr b="0" lang="en-US" sz="900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 모델 학습 결과</a:t>
            </a:r>
            <a:endParaRPr b="0" sz="900">
              <a:solidFill>
                <a:srgbClr val="5B667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58" name="Google Shape;358;p33"/>
          <p:cNvPicPr preferRelativeResize="0"/>
          <p:nvPr/>
        </p:nvPicPr>
        <p:blipFill rotWithShape="1">
          <a:blip r:embed="rId5">
            <a:alphaModFix/>
          </a:blip>
          <a:srcRect b="0" l="1526" r="0" t="0"/>
          <a:stretch/>
        </p:blipFill>
        <p:spPr>
          <a:xfrm>
            <a:off x="6365250" y="1659125"/>
            <a:ext cx="3923024" cy="2203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4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72B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4"/>
          <p:cNvSpPr txBox="1"/>
          <p:nvPr/>
        </p:nvSpPr>
        <p:spPr>
          <a:xfrm>
            <a:off x="822960" y="411480"/>
            <a:ext cx="10058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마무리 — 핵심 요약</a:t>
            </a:r>
            <a:endParaRPr/>
          </a:p>
        </p:txBody>
      </p:sp>
      <p:sp>
        <p:nvSpPr>
          <p:cNvPr id="365" name="Google Shape;365;p34"/>
          <p:cNvSpPr txBox="1"/>
          <p:nvPr/>
        </p:nvSpPr>
        <p:spPr>
          <a:xfrm>
            <a:off x="822950" y="1920250"/>
            <a:ext cx="9045600" cy="15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 EDA에서 얻은 가설: 개별 변수 값보다 '실제 고장 판정에 쓰이는 조합'이 강한 신호</a:t>
            </a:r>
            <a:endParaRPr b="0" sz="1500">
              <a:solidFill>
                <a:srgbClr val="1F2A37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 "모델을 더 잘 튜닝"(1·2차)보다 "도메인 지식을 피처로 주입"(3차)이 결정적 —  F1  0.50 → 0.912</a:t>
            </a:r>
            <a:endParaRPr/>
          </a:p>
          <a:p>
            <a:pPr indent="0" lvl="0" marL="0" marR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 불균형 데이터는 정확도</a:t>
            </a:r>
            <a:r>
              <a:rPr lang="en-US" sz="150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0" lang="en-US" sz="150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판단 금지 → 정밀도 · 재현율 · F1 함께 확인</a:t>
            </a:r>
            <a:endParaRPr b="0" sz="1500">
              <a:solidFill>
                <a:srgbClr val="1F2A37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 학습된 모델을 </a:t>
            </a:r>
            <a:r>
              <a:rPr lang="en-US" sz="150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저장하여 UI와 연동 </a:t>
            </a:r>
            <a:r>
              <a:rPr b="0" lang="en-US" sz="150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데스크톱 UI에서 실시간 예측 </a:t>
            </a:r>
            <a:r>
              <a:rPr lang="en-US" sz="1500">
                <a:solidFill>
                  <a:srgbClr val="1F2A37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기능 구현</a:t>
            </a:r>
            <a:endParaRPr b="0" sz="1500">
              <a:solidFill>
                <a:srgbClr val="1F2A3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6" name="Google Shape;366;p34"/>
          <p:cNvSpPr/>
          <p:nvPr/>
        </p:nvSpPr>
        <p:spPr>
          <a:xfrm>
            <a:off x="2011672" y="3762615"/>
            <a:ext cx="8229600" cy="685800"/>
          </a:xfrm>
          <a:prstGeom prst="roundRect">
            <a:avLst>
              <a:gd fmla="val 16667" name="adj"/>
            </a:avLst>
          </a:prstGeom>
          <a:solidFill>
            <a:srgbClr val="F2F4F7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8287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72B4D"/>
                </a:solidFill>
                <a:latin typeface="Malgun Gothic"/>
                <a:ea typeface="Malgun Gothic"/>
                <a:cs typeface="Malgun Gothic"/>
                <a:sym typeface="Malgun Gothic"/>
              </a:rPr>
              <a:t>GitHub  ·  https://github.com/hmy7788/python_data_analyze</a:t>
            </a:r>
            <a:endParaRPr/>
          </a:p>
        </p:txBody>
      </p:sp>
      <p:sp>
        <p:nvSpPr>
          <p:cNvPr id="367" name="Google Shape;367;p34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CNC 설비 정상/불량 판별  ·  UCI AI4I 2020</a:t>
            </a:r>
            <a:endParaRPr/>
          </a:p>
        </p:txBody>
      </p:sp>
      <p:sp>
        <p:nvSpPr>
          <p:cNvPr id="368" name="Google Shape;368;p34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B6672"/>
                </a:solidFill>
                <a:latin typeface="Malgun Gothic"/>
                <a:ea typeface="Malgun Gothic"/>
                <a:cs typeface="Malgun Gothic"/>
                <a:sym typeface="Malgun Gothic"/>
              </a:rPr>
              <a:t>19</a:t>
            </a:r>
            <a:endParaRPr/>
          </a:p>
        </p:txBody>
      </p:sp>
      <p:sp>
        <p:nvSpPr>
          <p:cNvPr id="369" name="Google Shape;369;p34"/>
          <p:cNvSpPr/>
          <p:nvPr/>
        </p:nvSpPr>
        <p:spPr>
          <a:xfrm>
            <a:off x="2011672" y="4774590"/>
            <a:ext cx="8229600" cy="685800"/>
          </a:xfrm>
          <a:prstGeom prst="roundRect">
            <a:avLst>
              <a:gd fmla="val 16667" name="adj"/>
            </a:avLst>
          </a:prstGeom>
          <a:solidFill>
            <a:srgbClr val="F2F4F7"/>
          </a:solidFill>
          <a:ln cap="flat" cmpd="sng" w="9525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8287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72B4D"/>
                </a:solidFill>
                <a:latin typeface="Malgun Gothic"/>
                <a:ea typeface="Malgun Gothic"/>
                <a:cs typeface="Malgun Gothic"/>
                <a:sym typeface="Malgun Gothic"/>
              </a:rPr>
              <a:t>UI 시연 영상</a:t>
            </a:r>
            <a:r>
              <a:rPr b="1" lang="en-US" sz="1300">
                <a:solidFill>
                  <a:srgbClr val="172B4D"/>
                </a:solidFill>
                <a:latin typeface="Malgun Gothic"/>
                <a:ea typeface="Malgun Gothic"/>
                <a:cs typeface="Malgun Gothic"/>
                <a:sym typeface="Malgun Gothic"/>
              </a:rPr>
              <a:t>  ·  </a:t>
            </a:r>
            <a:endParaRPr/>
          </a:p>
        </p:txBody>
      </p:sp>
      <p:sp>
        <p:nvSpPr>
          <p:cNvPr id="370" name="Google Shape;370;p34"/>
          <p:cNvSpPr txBox="1"/>
          <p:nvPr/>
        </p:nvSpPr>
        <p:spPr>
          <a:xfrm>
            <a:off x="6941050" y="4917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시연영상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